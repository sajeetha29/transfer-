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7"/>
    <p:sldId id="262" r:id="rId8"/>
    <p:sldId id="263" r:id="rId9"/>
    <p:sldId id="264" r:id="rId6"/>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7.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project is an AI agent that validates an MQS Mapping Document (Excel) against its RAML API specification. Today's story: the manual problem, the three input files, Stage 1 where the RAML is converted into a compact key-value format, Stage 2 where the validation agent compares the mapping against it using a final master prompt, the validation conditions and the report, and finally the human review that keeps the result reliable. The outcome is a field-by-field report in roughly 10 to 20 minutes with over 90 percent validation accuracy on our current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baseline. A reviewer opens the MQS Mapping Document, looks up each interface in the RAML, compares field by field, identifies mismatches and prepares the report by hand. The Excel carries path name, field name, data type and the mandatory or optional flag; the RAML carries API paths, variables, data types, structures, descriptions and required flags. More than 250 datasets may need validation and more than five people can be involved in reviewing one Excel. The limitations are time, repetitive field-by-field checking, human effort and the possibility of errors. These numbers describe the scale of the effort as reported by the team.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files drive the whole workflow. First, the MQS Mapping Document in Excel: it lists the interface path, field name, data type and the mandatory or optional flag for every field. Second, the static document RAML file, the static API specification. It is a nested YAML structure that contains each field's description, type and required flag, but it is verbose and hard for a model to compare at scale. Third, the compact key-value RAML, a text file produced in Stage 1 from the static document RAML file. The Excel preview on the left is an illustrative layout; the two RAML screenshots are from our conversion prompt example.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full architecture. The input layer is the MQS Mapping Document in Excel and the static document RAML file. Stage 1 is the RAML conversion agent: a conversion prompt with a one-shot example turns the RAML into a compact key-value text file, preserving hierarchy, field names, descriptions, data types, required flags and arrays, and doing no validation. The normalized inputs are the mapping Excel plus the compact RAML text. Stage 2 is the validation agent: the final master prompt compares interface path, field name, data type and required or optional status, and also checks missing fields, nested objects, arrays and one-to-one matching. The output is a field-by-field PASS or FAIL report with mismatches, missing-field flags and issue descriptions. Finally a human reviews the findings, resolves ambiguities and confirms the report. The design is two-stage, rule-driven, preserves the source and is reusable for other mapping documents and RAML specs.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1 converts the static document RAML file into a compact key-value format. We do it with a conversion prompt that uses one-shot prompting: the prompt describes the target format and includes one worked example. In the screenshot you can see the static document RAML file object, control, with its properties brandIdentifier and businessSourceCode, each with description, type and required. Below it is the converted result, where every field becomes one line in the form name, description and required flag, mapped to its type. The principle is to preserve the source content and hierarchy and to perform no validation at this stage.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2 is the validation agent. It takes the MQS Mapping Excel and the compact RAML text and compares them using the final master prompt, which carries the predefined validation conditions. Interface path: the mapping path is checked against the RAML hierarchy, including array notation. Field name: exact and case-sensitive against the RAML description or tag. Data type: only approved normalizations are allowed, namely date-only to date, time-only to time and int to integer. Mandatory or optional: compared against the Orchestrator column, not Pre-Comp. Missing fields: anything present in one source but not the other is flagged. Nested structures: objects, arrays and child fields are validated one-to-one. Each field receives a PASS or FAIL status with expected and actual values and an issue comment. The examples on the right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automates the comparison and generates the field-by-field report, but a human reviewer verifies the important mismatches and signs off. Time saving: manual validation takes 2 to 3 days, which is 16 to 24 hours, plus 1 to 2 days, or 8 to 16 hours, when stakeholder clarification is needed; the overall effort is about 3 to 4 days, roughly 24 to 32 hours. AI validation takes around 10 to 20 minutes for the agent run, excluding stakeholder response time, bringing the process to about 1 day. That is roughly 24 to 32 hours saved per process. Hours assume 8-hour working days. Accuracy is over 90 percent on current results, not a guarantee, which is why human review stays in the loop.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9654"/>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B1F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13554"/>
            <a:ext cx="10566400" cy="4231646"/>
          </a:xfrm>
          <a:prstGeom prst="rect">
            <a:avLst/>
          </a:prstGeom>
          <a:noFill/>
          <a:ln/>
        </p:spPr>
        <p:txBody>
          <a:bodyPr wrap="square" lIns="0" tIns="0" rIns="0" bIns="0" rtlCol="0" anchor="t"/>
          <a:lstStyle>
            <a:lvl1pPr algn="l" indent="0" marL="0">
              <a:lnSpc>
                <a:spcPct val="140000"/>
              </a:lnSpc>
              <a:buNone/>
              <a:defRPr lang="en-US" sz="1600" dirty="0">
                <a:solidFill>
                  <a:srgbClr val="0B1F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9654"/>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B1F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13554"/>
            <a:ext cx="10566400" cy="4231646"/>
          </a:xfrm>
          <a:prstGeom prst="rect">
            <a:avLst/>
          </a:prstGeom>
          <a:noFill/>
          <a:ln/>
        </p:spPr>
        <p:txBody>
          <a:bodyPr wrap="square" lIns="0" tIns="0" rIns="0" bIns="0" rtlCol="0" anchor="t"/>
          <a:lstStyle>
            <a:lvl1pPr algn="l" indent="0" marL="0">
              <a:lnSpc>
                <a:spcPct val="140000"/>
              </a:lnSpc>
              <a:buNone/>
              <a:defRPr lang="en-US" sz="1600" dirty="0">
                <a:solidFill>
                  <a:srgbClr val="0B1F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CCBD3"/>
                </a:solidFill>
                <a:latin typeface="IBM Plex Sans" pitchFamily="34" charset="0"/>
                <a:ea typeface="IBM Plex Sans" pitchFamily="34" charset="-122"/>
                <a:cs typeface="IBM Plex Sans" pitchFamily="34" charset="-120"/>
              </a:rPr>
              <a:t>AI AGENT · MQS CODE STATIC VALIDATION AGAINST RAML</a:t>
            </a:r>
            <a:endParaRPr lang="en-US" sz="1200" dirty="0"/>
          </a:p>
        </p:txBody>
      </p:sp>
      <p:sp>
        <p:nvSpPr>
          <p:cNvPr id="3" name="Text 1"/>
          <p:cNvSpPr/>
          <p:nvPr>
            <p:ph type="title"/>
          </p:nvPr>
        </p:nvSpPr>
        <p:spPr>
          <a:xfrm>
            <a:off x="812800" y="1051553"/>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8FC"/>
                </a:solidFill>
                <a:latin typeface="IBM Plex Sans" pitchFamily="34" charset="0"/>
                <a:ea typeface="IBM Plex Sans" pitchFamily="34" charset="-122"/>
                <a:cs typeface="IBM Plex Sans" pitchFamily="34" charset="-120"/>
              </a:rPr>
              <a:t>AI-Powered MQS Code Static Validation</a:t>
            </a:r>
            <a:endParaRPr lang="en-US" sz="3600" dirty="0"/>
          </a:p>
        </p:txBody>
      </p:sp>
      <p:sp>
        <p:nvSpPr>
          <p:cNvPr id="4" name="Text 2"/>
          <p:cNvSpPr/>
          <p:nvPr/>
        </p:nvSpPr>
        <p:spPr>
          <a:xfrm>
            <a:off x="812800" y="168146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3CCBD3"/>
                </a:solidFill>
                <a:latin typeface="IBM Plex Sans" pitchFamily="34" charset="0"/>
                <a:ea typeface="IBM Plex Sans" pitchFamily="34" charset="-122"/>
                <a:cs typeface="IBM Plex Sans" pitchFamily="34" charset="-120"/>
              </a:rPr>
              <a:t>From Manual Effort to Intelligent Automation</a:t>
            </a:r>
            <a:endParaRPr lang="en-US" sz="2200" dirty="0"/>
          </a:p>
        </p:txBody>
      </p:sp>
      <p:sp>
        <p:nvSpPr>
          <p:cNvPr id="5" name="Shape 3"/>
          <p:cNvSpPr/>
          <p:nvPr/>
        </p:nvSpPr>
        <p:spPr>
          <a:xfrm>
            <a:off x="815975" y="2986418"/>
            <a:ext cx="2540000" cy="631164"/>
          </a:xfrm>
          <a:prstGeom prst="roundRect">
            <a:avLst>
              <a:gd name="adj" fmla="val 13582"/>
            </a:avLst>
          </a:prstGeom>
          <a:solidFill>
            <a:srgbClr val="132D50"/>
          </a:solidFill>
          <a:ln w="6350">
            <a:solidFill>
              <a:srgbClr val="24477A"/>
            </a:solidFill>
            <a:prstDash val="solid"/>
          </a:ln>
        </p:spPr>
      </p:sp>
      <p:pic>
        <p:nvPicPr>
          <p:cNvPr id="6" name="Image 0" descr="Check">    </p:cNvPr>
          <p:cNvPicPr>
            <a:picLocks noChangeAspect="1"/>
          </p:cNvPicPr>
          <p:nvPr/>
        </p:nvPicPr>
        <p:blipFill>
          <a:blip r:embed="rId1"/>
          <a:srcRect l="0" r="0" t="0" b="0"/>
          <a:stretch/>
        </p:blipFill>
        <p:spPr>
          <a:xfrm>
            <a:off x="958850" y="3213100"/>
            <a:ext cx="177800" cy="177800"/>
          </a:xfrm>
          <a:prstGeom prst="rect">
            <a:avLst/>
          </a:prstGeom>
        </p:spPr>
      </p:pic>
      <p:sp>
        <p:nvSpPr>
          <p:cNvPr id="7" name="Text 4"/>
          <p:cNvSpPr/>
          <p:nvPr/>
        </p:nvSpPr>
        <p:spPr>
          <a:xfrm>
            <a:off x="1225550" y="3202947"/>
            <a:ext cx="2047176"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Reduce manual effort</a:t>
            </a:r>
            <a:endParaRPr lang="en-US" sz="1200" dirty="0"/>
          </a:p>
        </p:txBody>
      </p:sp>
      <p:sp>
        <p:nvSpPr>
          <p:cNvPr id="8" name="Shape 5"/>
          <p:cNvSpPr/>
          <p:nvPr/>
        </p:nvSpPr>
        <p:spPr>
          <a:xfrm>
            <a:off x="3489325" y="2986418"/>
            <a:ext cx="2540000" cy="631164"/>
          </a:xfrm>
          <a:prstGeom prst="roundRect">
            <a:avLst>
              <a:gd name="adj" fmla="val 13582"/>
            </a:avLst>
          </a:prstGeom>
          <a:solidFill>
            <a:srgbClr val="132D50"/>
          </a:solidFill>
          <a:ln w="6350">
            <a:solidFill>
              <a:srgbClr val="24477A"/>
            </a:solidFill>
            <a:prstDash val="solid"/>
          </a:ln>
        </p:spPr>
      </p:sp>
      <p:pic>
        <p:nvPicPr>
          <p:cNvPr id="9" name="Image 1" descr="Check">    </p:cNvPr>
          <p:cNvPicPr>
            <a:picLocks noChangeAspect="1"/>
          </p:cNvPicPr>
          <p:nvPr/>
        </p:nvPicPr>
        <p:blipFill>
          <a:blip r:embed="rId2"/>
          <a:srcRect l="0" r="0" t="0" b="0"/>
          <a:stretch/>
        </p:blipFill>
        <p:spPr>
          <a:xfrm>
            <a:off x="3632200" y="3213100"/>
            <a:ext cx="177800" cy="177800"/>
          </a:xfrm>
          <a:prstGeom prst="rect">
            <a:avLst/>
          </a:prstGeom>
        </p:spPr>
      </p:pic>
      <p:sp>
        <p:nvSpPr>
          <p:cNvPr id="10" name="Text 6"/>
          <p:cNvSpPr/>
          <p:nvPr/>
        </p:nvSpPr>
        <p:spPr>
          <a:xfrm>
            <a:off x="3898900" y="3202947"/>
            <a:ext cx="2047176"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90%+ validation accuracy</a:t>
            </a:r>
            <a:endParaRPr lang="en-US" sz="1200" dirty="0"/>
          </a:p>
        </p:txBody>
      </p:sp>
      <p:sp>
        <p:nvSpPr>
          <p:cNvPr id="11" name="Shape 7"/>
          <p:cNvSpPr/>
          <p:nvPr/>
        </p:nvSpPr>
        <p:spPr>
          <a:xfrm>
            <a:off x="6162675" y="2986418"/>
            <a:ext cx="2540000" cy="631164"/>
          </a:xfrm>
          <a:prstGeom prst="roundRect">
            <a:avLst>
              <a:gd name="adj" fmla="val 13582"/>
            </a:avLst>
          </a:prstGeom>
          <a:solidFill>
            <a:srgbClr val="132D50"/>
          </a:solidFill>
          <a:ln w="6350">
            <a:solidFill>
              <a:srgbClr val="24477A"/>
            </a:solidFill>
            <a:prstDash val="solid"/>
          </a:ln>
        </p:spPr>
      </p:sp>
      <p:pic>
        <p:nvPicPr>
          <p:cNvPr id="12" name="Image 2" descr="Check">    </p:cNvPr>
          <p:cNvPicPr>
            <a:picLocks noChangeAspect="1"/>
          </p:cNvPicPr>
          <p:nvPr/>
        </p:nvPicPr>
        <p:blipFill>
          <a:blip r:embed="rId3"/>
          <a:srcRect l="0" r="0" t="0" b="0"/>
          <a:stretch/>
        </p:blipFill>
        <p:spPr>
          <a:xfrm>
            <a:off x="6305550" y="3213100"/>
            <a:ext cx="177800" cy="177800"/>
          </a:xfrm>
          <a:prstGeom prst="rect">
            <a:avLst/>
          </a:prstGeom>
        </p:spPr>
      </p:pic>
      <p:sp>
        <p:nvSpPr>
          <p:cNvPr id="13" name="Text 8"/>
          <p:cNvSpPr/>
          <p:nvPr/>
        </p:nvSpPr>
        <p:spPr>
          <a:xfrm>
            <a:off x="6572250" y="3103893"/>
            <a:ext cx="204717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Accurate mismatch identification</a:t>
            </a:r>
            <a:endParaRPr lang="en-US" sz="1200" dirty="0"/>
          </a:p>
        </p:txBody>
      </p:sp>
      <p:sp>
        <p:nvSpPr>
          <p:cNvPr id="14" name="Shape 9"/>
          <p:cNvSpPr/>
          <p:nvPr/>
        </p:nvSpPr>
        <p:spPr>
          <a:xfrm>
            <a:off x="8836025" y="2986418"/>
            <a:ext cx="2540000" cy="631164"/>
          </a:xfrm>
          <a:prstGeom prst="roundRect">
            <a:avLst>
              <a:gd name="adj" fmla="val 13582"/>
            </a:avLst>
          </a:prstGeom>
          <a:solidFill>
            <a:srgbClr val="132D50"/>
          </a:solidFill>
          <a:ln w="6350">
            <a:solidFill>
              <a:srgbClr val="24477A"/>
            </a:solidFill>
            <a:prstDash val="solid"/>
          </a:ln>
        </p:spPr>
      </p:sp>
      <p:pic>
        <p:nvPicPr>
          <p:cNvPr id="15" name="Image 3" descr="Check">    </p:cNvPr>
          <p:cNvPicPr>
            <a:picLocks noChangeAspect="1"/>
          </p:cNvPicPr>
          <p:nvPr/>
        </p:nvPicPr>
        <p:blipFill>
          <a:blip r:embed="rId4"/>
          <a:srcRect l="0" r="0" t="0" b="0"/>
          <a:stretch/>
        </p:blipFill>
        <p:spPr>
          <a:xfrm>
            <a:off x="8978900" y="3213100"/>
            <a:ext cx="177800" cy="177800"/>
          </a:xfrm>
          <a:prstGeom prst="rect">
            <a:avLst/>
          </a:prstGeom>
        </p:spPr>
      </p:pic>
      <p:sp>
        <p:nvSpPr>
          <p:cNvPr id="16" name="Text 10"/>
          <p:cNvSpPr/>
          <p:nvPr/>
        </p:nvSpPr>
        <p:spPr>
          <a:xfrm>
            <a:off x="9245600" y="3103893"/>
            <a:ext cx="204717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Report in ~10–20 minutes</a:t>
            </a:r>
            <a:endParaRPr lang="en-US" sz="1200" dirty="0"/>
          </a:p>
        </p:txBody>
      </p:sp>
      <p:sp>
        <p:nvSpPr>
          <p:cNvPr id="17" name="Shape 11"/>
          <p:cNvSpPr/>
          <p:nvPr/>
        </p:nvSpPr>
        <p:spPr>
          <a:xfrm>
            <a:off x="815975" y="4590455"/>
            <a:ext cx="2732617" cy="732764"/>
          </a:xfrm>
          <a:prstGeom prst="roundRect">
            <a:avLst>
              <a:gd name="adj" fmla="val 11699"/>
            </a:avLst>
          </a:prstGeom>
          <a:solidFill>
            <a:srgbClr val="132D50"/>
          </a:solidFill>
          <a:ln w="6350">
            <a:solidFill>
              <a:srgbClr val="24477A"/>
            </a:solidFill>
            <a:prstDash val="solid"/>
          </a:ln>
        </p:spPr>
      </p:sp>
      <p:pic>
        <p:nvPicPr>
          <p:cNvPr id="18" name="Image 4" descr="Chart">    </p:cNvPr>
          <p:cNvPicPr>
            <a:picLocks noChangeAspect="1"/>
          </p:cNvPicPr>
          <p:nvPr/>
        </p:nvPicPr>
        <p:blipFill>
          <a:blip r:embed="rId5"/>
          <a:srcRect l="0" r="0" t="0" b="0"/>
          <a:stretch/>
        </p:blipFill>
        <p:spPr>
          <a:xfrm>
            <a:off x="971550" y="4842537"/>
            <a:ext cx="228600" cy="228600"/>
          </a:xfrm>
          <a:prstGeom prst="rect">
            <a:avLst/>
          </a:prstGeom>
        </p:spPr>
      </p:pic>
      <p:sp>
        <p:nvSpPr>
          <p:cNvPr id="19" name="Text 12"/>
          <p:cNvSpPr/>
          <p:nvPr/>
        </p:nvSpPr>
        <p:spPr>
          <a:xfrm>
            <a:off x="1301750" y="4707930"/>
            <a:ext cx="2154005"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8FC"/>
                </a:solidFill>
                <a:latin typeface="IBM Plex Sans" pitchFamily="34" charset="0"/>
                <a:ea typeface="IBM Plex Sans" pitchFamily="34" charset="-122"/>
                <a:cs typeface="IBM Plex Sans" pitchFamily="34" charset="-120"/>
              </a:rPr>
              <a:t>MQS Mapping (Excel)</a:t>
            </a:r>
            <a:endParaRPr lang="en-US" sz="1400" dirty="0"/>
          </a:p>
        </p:txBody>
      </p:sp>
      <p:sp>
        <p:nvSpPr>
          <p:cNvPr id="20" name="Text 13"/>
          <p:cNvSpPr/>
          <p:nvPr/>
        </p:nvSpPr>
        <p:spPr>
          <a:xfrm>
            <a:off x="771715" y="5377193"/>
            <a:ext cx="2821136" cy="254000"/>
          </a:xfrm>
          <a:prstGeom prst="rect">
            <a:avLst/>
          </a:prstGeom>
          <a:noFill/>
          <a:ln/>
        </p:spPr>
        <p:txBody>
          <a:bodyPr wrap="square" lIns="0" tIns="0" rIns="0" bIns="0" rtlCol="0" anchor="t">
            <a:normAutofit/>
          </a:bodyPr>
          <a:lstStyle/>
          <a:p>
            <a:pPr algn="ctr" indent="0" marL="0">
              <a:lnSpc>
                <a:spcPts val="1800"/>
              </a:lnSpc>
              <a:buNone/>
            </a:pPr>
            <a:r>
              <a:rPr lang="en-US" sz="1800" b="1" dirty="0">
                <a:solidFill>
                  <a:srgbClr val="3CCBD3"/>
                </a:solidFill>
                <a:latin typeface="IBM Plex Sans" pitchFamily="34" charset="0"/>
                <a:ea typeface="IBM Plex Sans" pitchFamily="34" charset="-122"/>
                <a:cs typeface="IBM Plex Sans" pitchFamily="34" charset="-120"/>
              </a:rPr>
              <a:t>+</a:t>
            </a:r>
            <a:endParaRPr lang="en-US" sz="1800" dirty="0"/>
          </a:p>
        </p:txBody>
      </p:sp>
      <p:sp>
        <p:nvSpPr>
          <p:cNvPr id="21" name="Shape 14"/>
          <p:cNvSpPr/>
          <p:nvPr/>
        </p:nvSpPr>
        <p:spPr>
          <a:xfrm>
            <a:off x="815975" y="5659768"/>
            <a:ext cx="2732617" cy="483857"/>
          </a:xfrm>
          <a:prstGeom prst="roundRect">
            <a:avLst>
              <a:gd name="adj" fmla="val 17717"/>
            </a:avLst>
          </a:prstGeom>
          <a:solidFill>
            <a:srgbClr val="132D50"/>
          </a:solidFill>
          <a:ln w="6350">
            <a:solidFill>
              <a:srgbClr val="24477A"/>
            </a:solidFill>
            <a:prstDash val="solid"/>
          </a:ln>
        </p:spPr>
      </p:sp>
      <p:pic>
        <p:nvPicPr>
          <p:cNvPr id="22" name="Image 5" descr="Code">    </p:cNvPr>
          <p:cNvPicPr>
            <a:picLocks noChangeAspect="1"/>
          </p:cNvPicPr>
          <p:nvPr/>
        </p:nvPicPr>
        <p:blipFill>
          <a:blip r:embed="rId6"/>
          <a:srcRect l="0" r="0" t="0" b="0"/>
          <a:stretch/>
        </p:blipFill>
        <p:spPr>
          <a:xfrm>
            <a:off x="971550" y="5787397"/>
            <a:ext cx="228600" cy="228600"/>
          </a:xfrm>
          <a:prstGeom prst="rect">
            <a:avLst/>
          </a:prstGeom>
        </p:spPr>
      </p:pic>
      <p:sp>
        <p:nvSpPr>
          <p:cNvPr id="23" name="Text 15"/>
          <p:cNvSpPr/>
          <p:nvPr/>
        </p:nvSpPr>
        <p:spPr>
          <a:xfrm>
            <a:off x="1301750" y="5777243"/>
            <a:ext cx="215400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8FC"/>
                </a:solidFill>
                <a:latin typeface="IBM Plex Sans" pitchFamily="34" charset="0"/>
                <a:ea typeface="IBM Plex Sans" pitchFamily="34" charset="-122"/>
                <a:cs typeface="IBM Plex Sans" pitchFamily="34" charset="-120"/>
              </a:rPr>
              <a:t>RAML specification</a:t>
            </a:r>
            <a:endParaRPr lang="en-US" sz="1400" dirty="0"/>
          </a:p>
        </p:txBody>
      </p:sp>
      <p:pic>
        <p:nvPicPr>
          <p:cNvPr id="24" name="Image 6" descr="arrow-right">    </p:cNvPr>
          <p:cNvPicPr>
            <a:picLocks noChangeAspect="1"/>
          </p:cNvPicPr>
          <p:nvPr/>
        </p:nvPicPr>
        <p:blipFill>
          <a:blip r:embed="rId7"/>
          <a:srcRect l="0" r="0" t="0" b="0"/>
          <a:stretch/>
        </p:blipFill>
        <p:spPr>
          <a:xfrm>
            <a:off x="3704167" y="5252740"/>
            <a:ext cx="457200" cy="228600"/>
          </a:xfrm>
          <a:prstGeom prst="rect">
            <a:avLst/>
          </a:prstGeom>
        </p:spPr>
      </p:pic>
      <p:sp>
        <p:nvSpPr>
          <p:cNvPr id="25" name="Shape 16"/>
          <p:cNvSpPr/>
          <p:nvPr/>
        </p:nvSpPr>
        <p:spPr>
          <a:xfrm>
            <a:off x="4313767" y="4587280"/>
            <a:ext cx="3145367" cy="1559520"/>
          </a:xfrm>
          <a:prstGeom prst="roundRect">
            <a:avLst>
              <a:gd name="adj" fmla="val 6515"/>
            </a:avLst>
          </a:prstGeom>
          <a:solidFill>
            <a:srgbClr val="3CCBD3"/>
          </a:solidFill>
          <a:ln/>
        </p:spPr>
      </p:sp>
      <p:pic>
        <p:nvPicPr>
          <p:cNvPr id="26" name="Image 7" descr="Lightning">    </p:cNvPr>
          <p:cNvPicPr>
            <a:picLocks noChangeAspect="1"/>
          </p:cNvPicPr>
          <p:nvPr/>
        </p:nvPicPr>
        <p:blipFill>
          <a:blip r:embed="rId8"/>
          <a:srcRect l="0" r="0" t="0" b="0"/>
          <a:stretch/>
        </p:blipFill>
        <p:spPr>
          <a:xfrm>
            <a:off x="4516967" y="4933355"/>
            <a:ext cx="279400" cy="279400"/>
          </a:xfrm>
          <a:prstGeom prst="rect">
            <a:avLst/>
          </a:prstGeom>
        </p:spPr>
      </p:pic>
      <p:sp>
        <p:nvSpPr>
          <p:cNvPr id="27" name="Text 17"/>
          <p:cNvSpPr/>
          <p:nvPr/>
        </p:nvSpPr>
        <p:spPr>
          <a:xfrm>
            <a:off x="4516967" y="5276255"/>
            <a:ext cx="2821136"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0B1F3A"/>
                </a:solidFill>
                <a:latin typeface="IBM Plex Sans" pitchFamily="34" charset="0"/>
                <a:ea typeface="IBM Plex Sans" pitchFamily="34" charset="-122"/>
                <a:cs typeface="IBM Plex Sans" pitchFamily="34" charset="-120"/>
              </a:rPr>
              <a:t>AI Validation Agent</a:t>
            </a:r>
            <a:endParaRPr lang="en-US" sz="1800" dirty="0"/>
          </a:p>
        </p:txBody>
      </p:sp>
      <p:sp>
        <p:nvSpPr>
          <p:cNvPr id="28" name="Text 18"/>
          <p:cNvSpPr/>
          <p:nvPr/>
        </p:nvSpPr>
        <p:spPr>
          <a:xfrm>
            <a:off x="4516967" y="5602618"/>
            <a:ext cx="2821136"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B1F3A"/>
                </a:solidFill>
                <a:latin typeface="IBM Plex Sans" pitchFamily="34" charset="0"/>
                <a:ea typeface="IBM Plex Sans" pitchFamily="34" charset="-122"/>
                <a:cs typeface="IBM Plex Sans" pitchFamily="34" charset="-120"/>
              </a:rPr>
              <a:t>RAML conversion + rule-driven validation</a:t>
            </a:r>
            <a:endParaRPr lang="en-US" sz="1200" dirty="0"/>
          </a:p>
        </p:txBody>
      </p:sp>
      <p:pic>
        <p:nvPicPr>
          <p:cNvPr id="29" name="Image 8" descr="arrow-right">    </p:cNvPr>
          <p:cNvPicPr>
            <a:picLocks noChangeAspect="1"/>
          </p:cNvPicPr>
          <p:nvPr/>
        </p:nvPicPr>
        <p:blipFill>
          <a:blip r:embed="rId9"/>
          <a:srcRect l="0" r="0" t="0" b="0"/>
          <a:stretch/>
        </p:blipFill>
        <p:spPr>
          <a:xfrm>
            <a:off x="7611534" y="5252740"/>
            <a:ext cx="457200" cy="228600"/>
          </a:xfrm>
          <a:prstGeom prst="rect">
            <a:avLst/>
          </a:prstGeom>
        </p:spPr>
      </p:pic>
      <p:sp>
        <p:nvSpPr>
          <p:cNvPr id="30" name="Shape 19"/>
          <p:cNvSpPr/>
          <p:nvPr/>
        </p:nvSpPr>
        <p:spPr>
          <a:xfrm>
            <a:off x="8224309" y="4590455"/>
            <a:ext cx="3151717" cy="1553170"/>
          </a:xfrm>
          <a:prstGeom prst="roundRect">
            <a:avLst>
              <a:gd name="adj" fmla="val 6337"/>
            </a:avLst>
          </a:prstGeom>
          <a:solidFill>
            <a:srgbClr val="132D50"/>
          </a:solidFill>
          <a:ln w="6350">
            <a:solidFill>
              <a:srgbClr val="24477A"/>
            </a:solidFill>
            <a:prstDash val="solid"/>
          </a:ln>
        </p:spPr>
      </p:sp>
      <p:pic>
        <p:nvPicPr>
          <p:cNvPr id="31" name="Image 9" descr="CheckCircle">    </p:cNvPr>
          <p:cNvPicPr>
            <a:picLocks noChangeAspect="1"/>
          </p:cNvPicPr>
          <p:nvPr/>
        </p:nvPicPr>
        <p:blipFill>
          <a:blip r:embed="rId10"/>
          <a:srcRect l="0" r="0" t="0" b="0"/>
          <a:stretch/>
        </p:blipFill>
        <p:spPr>
          <a:xfrm>
            <a:off x="8430684" y="4834301"/>
            <a:ext cx="279400" cy="279400"/>
          </a:xfrm>
          <a:prstGeom prst="rect">
            <a:avLst/>
          </a:prstGeom>
        </p:spPr>
      </p:pic>
      <p:sp>
        <p:nvSpPr>
          <p:cNvPr id="32" name="Text 20"/>
          <p:cNvSpPr/>
          <p:nvPr/>
        </p:nvSpPr>
        <p:spPr>
          <a:xfrm>
            <a:off x="8430684" y="5177201"/>
            <a:ext cx="2821136"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8FC"/>
                </a:solidFill>
                <a:latin typeface="IBM Plex Sans" pitchFamily="34" charset="0"/>
                <a:ea typeface="IBM Plex Sans" pitchFamily="34" charset="-122"/>
                <a:cs typeface="IBM Plex Sans" pitchFamily="34" charset="-120"/>
              </a:rPr>
              <a:t>Validation Report + Human Review</a:t>
            </a:r>
            <a:endParaRPr lang="en-US" sz="1800" dirty="0"/>
          </a:p>
        </p:txBody>
      </p:sp>
      <p:sp>
        <p:nvSpPr>
          <p:cNvPr id="33" name="Text 21"/>
          <p:cNvSpPr/>
          <p:nvPr/>
        </p:nvSpPr>
        <p:spPr>
          <a:xfrm>
            <a:off x="8430684" y="5503565"/>
            <a:ext cx="282113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BCD3"/>
                </a:solidFill>
                <a:latin typeface="IBM Plex Sans" pitchFamily="34" charset="0"/>
                <a:ea typeface="IBM Plex Sans" pitchFamily="34" charset="-122"/>
                <a:cs typeface="IBM Plex Sans" pitchFamily="34" charset="-120"/>
              </a:rPr>
              <a:t>Field-by-field PASS / FAIL, verified by a reviewer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01 · THE PROBLEM</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Manual validation is slow and error-prone</a:t>
            </a:r>
            <a:endParaRPr lang="en-US" sz="3000" dirty="0"/>
          </a:p>
        </p:txBody>
      </p:sp>
      <p:sp>
        <p:nvSpPr>
          <p:cNvPr id="4" name="Shape 2"/>
          <p:cNvSpPr/>
          <p:nvPr/>
        </p:nvSpPr>
        <p:spPr>
          <a:xfrm>
            <a:off x="815975" y="1835779"/>
            <a:ext cx="1761464" cy="676903"/>
          </a:xfrm>
          <a:prstGeom prst="roundRect">
            <a:avLst>
              <a:gd name="adj" fmla="val 12664"/>
            </a:avLst>
          </a:prstGeom>
          <a:solidFill>
            <a:srgbClr val="FCFDFE"/>
          </a:solidFill>
          <a:ln w="6350">
            <a:solidFill>
              <a:srgbClr val="D5DEE8"/>
            </a:solidFill>
            <a:prstDash val="solid"/>
          </a:ln>
        </p:spPr>
        <p:txBody>
          <a:bodyPr/>
          <a:p/>
        </p:txBody>
      </p:sp>
      <p:sp>
        <p:nvSpPr>
          <p:cNvPr id="5" name="Text 3"/>
          <p:cNvSpPr/>
          <p:nvPr/>
        </p:nvSpPr>
        <p:spPr>
          <a:xfrm>
            <a:off x="920750" y="1953254"/>
            <a:ext cx="1602714" cy="23875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7480"/>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20750" y="2204707"/>
            <a:ext cx="1602714"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B1F3A"/>
                </a:solidFill>
                <a:latin typeface="IBM Plex Sans" pitchFamily="34" charset="0"/>
                <a:ea typeface="IBM Plex Sans" pitchFamily="34" charset="-122"/>
                <a:cs typeface="IBM Plex Sans" pitchFamily="34" charset="-120"/>
              </a:rPr>
              <a:t>Excel review</a:t>
            </a:r>
            <a:endParaRPr lang="en-US" sz="1200" dirty="0"/>
          </a:p>
        </p:txBody>
      </p:sp>
      <p:pic>
        <p:nvPicPr>
          <p:cNvPr id="7" name="Image 0" descr="arrow-right">    </p:cNvPr>
          <p:cNvPicPr>
            <a:picLocks noChangeAspect="1"/>
          </p:cNvPicPr>
          <p:nvPr/>
        </p:nvPicPr>
        <p:blipFill>
          <a:blip r:embed="rId1"/>
          <a:srcRect l="0" r="0" t="0" b="0"/>
          <a:stretch/>
        </p:blipFill>
        <p:spPr>
          <a:xfrm>
            <a:off x="2669514" y="2098014"/>
            <a:ext cx="254000" cy="152400"/>
          </a:xfrm>
          <a:prstGeom prst="rect">
            <a:avLst/>
          </a:prstGeom>
        </p:spPr>
      </p:pic>
      <p:sp>
        <p:nvSpPr>
          <p:cNvPr id="8" name="Shape 5"/>
          <p:cNvSpPr/>
          <p:nvPr/>
        </p:nvSpPr>
        <p:spPr>
          <a:xfrm>
            <a:off x="3015589" y="1835779"/>
            <a:ext cx="1761497" cy="676903"/>
          </a:xfrm>
          <a:prstGeom prst="roundRect">
            <a:avLst>
              <a:gd name="adj" fmla="val 12664"/>
            </a:avLst>
          </a:prstGeom>
          <a:solidFill>
            <a:srgbClr val="FCFDFE"/>
          </a:solidFill>
          <a:ln w="6350">
            <a:solidFill>
              <a:srgbClr val="D5DEE8"/>
            </a:solidFill>
            <a:prstDash val="solid"/>
          </a:ln>
        </p:spPr>
        <p:txBody>
          <a:bodyPr/>
          <a:p/>
        </p:txBody>
      </p:sp>
      <p:sp>
        <p:nvSpPr>
          <p:cNvPr id="9" name="Text 6"/>
          <p:cNvSpPr/>
          <p:nvPr/>
        </p:nvSpPr>
        <p:spPr>
          <a:xfrm>
            <a:off x="3120364" y="1953254"/>
            <a:ext cx="1602747" cy="23875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7480"/>
                </a:solidFill>
                <a:latin typeface="IBM Plex Sans" pitchFamily="34" charset="0"/>
                <a:ea typeface="IBM Plex Sans" pitchFamily="34" charset="-122"/>
                <a:cs typeface="IBM Plex Sans" pitchFamily="34" charset="-120"/>
              </a:rPr>
              <a:t>2</a:t>
            </a:r>
            <a:endParaRPr lang="en-US" sz="1200" dirty="0"/>
          </a:p>
        </p:txBody>
      </p:sp>
      <p:sp>
        <p:nvSpPr>
          <p:cNvPr id="10" name="Text 7"/>
          <p:cNvSpPr/>
          <p:nvPr/>
        </p:nvSpPr>
        <p:spPr>
          <a:xfrm>
            <a:off x="3120364" y="2204707"/>
            <a:ext cx="160274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B1F3A"/>
                </a:solidFill>
                <a:latin typeface="IBM Plex Sans" pitchFamily="34" charset="0"/>
                <a:ea typeface="IBM Plex Sans" pitchFamily="34" charset="-122"/>
                <a:cs typeface="IBM Plex Sans" pitchFamily="34" charset="-120"/>
              </a:rPr>
              <a:t>RAML lookup</a:t>
            </a:r>
            <a:endParaRPr lang="en-US" sz="1200" dirty="0"/>
          </a:p>
        </p:txBody>
      </p:sp>
      <p:pic>
        <p:nvPicPr>
          <p:cNvPr id="11" name="Image 1" descr="arrow-right">    </p:cNvPr>
          <p:cNvPicPr>
            <a:picLocks noChangeAspect="1"/>
          </p:cNvPicPr>
          <p:nvPr/>
        </p:nvPicPr>
        <p:blipFill>
          <a:blip r:embed="rId2"/>
          <a:srcRect l="0" r="0" t="0" b="0"/>
          <a:stretch/>
        </p:blipFill>
        <p:spPr>
          <a:xfrm>
            <a:off x="4869160" y="2098014"/>
            <a:ext cx="254000" cy="152400"/>
          </a:xfrm>
          <a:prstGeom prst="rect">
            <a:avLst/>
          </a:prstGeom>
        </p:spPr>
      </p:pic>
      <p:sp>
        <p:nvSpPr>
          <p:cNvPr id="12" name="Shape 8"/>
          <p:cNvSpPr/>
          <p:nvPr/>
        </p:nvSpPr>
        <p:spPr>
          <a:xfrm>
            <a:off x="5215235" y="1740529"/>
            <a:ext cx="1761497" cy="867403"/>
          </a:xfrm>
          <a:prstGeom prst="roundRect">
            <a:avLst>
              <a:gd name="adj" fmla="val 9883"/>
            </a:avLst>
          </a:prstGeom>
          <a:solidFill>
            <a:srgbClr val="FCFDFE"/>
          </a:solidFill>
          <a:ln w="6350">
            <a:solidFill>
              <a:srgbClr val="D5DEE8"/>
            </a:solidFill>
            <a:prstDash val="solid"/>
          </a:ln>
        </p:spPr>
        <p:txBody>
          <a:bodyPr/>
          <a:p/>
        </p:txBody>
      </p:sp>
      <p:sp>
        <p:nvSpPr>
          <p:cNvPr id="13" name="Text 9"/>
          <p:cNvSpPr/>
          <p:nvPr/>
        </p:nvSpPr>
        <p:spPr>
          <a:xfrm>
            <a:off x="5320010" y="1858004"/>
            <a:ext cx="1602747" cy="23875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7480"/>
                </a:solidFill>
                <a:latin typeface="IBM Plex Sans" pitchFamily="34" charset="0"/>
                <a:ea typeface="IBM Plex Sans" pitchFamily="34" charset="-122"/>
                <a:cs typeface="IBM Plex Sans" pitchFamily="34" charset="-120"/>
              </a:rPr>
              <a:t>3</a:t>
            </a:r>
            <a:endParaRPr lang="en-US" sz="1200" dirty="0"/>
          </a:p>
        </p:txBody>
      </p:sp>
      <p:sp>
        <p:nvSpPr>
          <p:cNvPr id="14" name="Text 10"/>
          <p:cNvSpPr/>
          <p:nvPr/>
        </p:nvSpPr>
        <p:spPr>
          <a:xfrm>
            <a:off x="5320010" y="2109457"/>
            <a:ext cx="1602747"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B1F3A"/>
                </a:solidFill>
                <a:latin typeface="IBM Plex Sans" pitchFamily="34" charset="0"/>
                <a:ea typeface="IBM Plex Sans" pitchFamily="34" charset="-122"/>
                <a:cs typeface="IBM Plex Sans" pitchFamily="34" charset="-120"/>
              </a:rPr>
              <a:t>Field-by-field comparison</a:t>
            </a:r>
            <a:endParaRPr lang="en-US" sz="1200" dirty="0"/>
          </a:p>
        </p:txBody>
      </p:sp>
      <p:pic>
        <p:nvPicPr>
          <p:cNvPr id="15" name="Image 2" descr="arrow-right">    </p:cNvPr>
          <p:cNvPicPr>
            <a:picLocks noChangeAspect="1"/>
          </p:cNvPicPr>
          <p:nvPr/>
        </p:nvPicPr>
        <p:blipFill>
          <a:blip r:embed="rId3"/>
          <a:srcRect l="0" r="0" t="0" b="0"/>
          <a:stretch/>
        </p:blipFill>
        <p:spPr>
          <a:xfrm>
            <a:off x="7068807" y="2098014"/>
            <a:ext cx="254000" cy="152400"/>
          </a:xfrm>
          <a:prstGeom prst="rect">
            <a:avLst/>
          </a:prstGeom>
        </p:spPr>
      </p:pic>
      <p:sp>
        <p:nvSpPr>
          <p:cNvPr id="16" name="Shape 11"/>
          <p:cNvSpPr/>
          <p:nvPr/>
        </p:nvSpPr>
        <p:spPr>
          <a:xfrm>
            <a:off x="7414882" y="1740529"/>
            <a:ext cx="1761497" cy="867403"/>
          </a:xfrm>
          <a:prstGeom prst="roundRect">
            <a:avLst>
              <a:gd name="adj" fmla="val 9883"/>
            </a:avLst>
          </a:prstGeom>
          <a:solidFill>
            <a:srgbClr val="FCFDFE"/>
          </a:solidFill>
          <a:ln w="6350">
            <a:solidFill>
              <a:srgbClr val="D5DEE8"/>
            </a:solidFill>
            <a:prstDash val="solid"/>
          </a:ln>
        </p:spPr>
        <p:txBody>
          <a:bodyPr/>
          <a:p/>
        </p:txBody>
      </p:sp>
      <p:sp>
        <p:nvSpPr>
          <p:cNvPr id="17" name="Text 12"/>
          <p:cNvSpPr/>
          <p:nvPr/>
        </p:nvSpPr>
        <p:spPr>
          <a:xfrm>
            <a:off x="7519657" y="1858004"/>
            <a:ext cx="1602747" cy="23875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7480"/>
                </a:solidFill>
                <a:latin typeface="IBM Plex Sans" pitchFamily="34" charset="0"/>
                <a:ea typeface="IBM Plex Sans" pitchFamily="34" charset="-122"/>
                <a:cs typeface="IBM Plex Sans" pitchFamily="34" charset="-120"/>
              </a:rPr>
              <a:t>4</a:t>
            </a:r>
            <a:endParaRPr lang="en-US" sz="1200" dirty="0"/>
          </a:p>
        </p:txBody>
      </p:sp>
      <p:sp>
        <p:nvSpPr>
          <p:cNvPr id="18" name="Text 13"/>
          <p:cNvSpPr/>
          <p:nvPr/>
        </p:nvSpPr>
        <p:spPr>
          <a:xfrm>
            <a:off x="7519657" y="2109457"/>
            <a:ext cx="1602747"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B1F3A"/>
                </a:solidFill>
                <a:latin typeface="IBM Plex Sans" pitchFamily="34" charset="0"/>
                <a:ea typeface="IBM Plex Sans" pitchFamily="34" charset="-122"/>
                <a:cs typeface="IBM Plex Sans" pitchFamily="34" charset="-120"/>
              </a:rPr>
              <a:t>Mismatch identification</a:t>
            </a:r>
            <a:endParaRPr lang="en-US" sz="1200" dirty="0"/>
          </a:p>
        </p:txBody>
      </p:sp>
      <p:pic>
        <p:nvPicPr>
          <p:cNvPr id="19" name="Image 3" descr="arrow-right">    </p:cNvPr>
          <p:cNvPicPr>
            <a:picLocks noChangeAspect="1"/>
          </p:cNvPicPr>
          <p:nvPr/>
        </p:nvPicPr>
        <p:blipFill>
          <a:blip r:embed="rId4"/>
          <a:srcRect l="0" r="0" t="0" b="0"/>
          <a:stretch/>
        </p:blipFill>
        <p:spPr>
          <a:xfrm>
            <a:off x="9268454" y="2098014"/>
            <a:ext cx="254000" cy="152400"/>
          </a:xfrm>
          <a:prstGeom prst="rect">
            <a:avLst/>
          </a:prstGeom>
        </p:spPr>
      </p:pic>
      <p:sp>
        <p:nvSpPr>
          <p:cNvPr id="20" name="Shape 14"/>
          <p:cNvSpPr/>
          <p:nvPr/>
        </p:nvSpPr>
        <p:spPr>
          <a:xfrm>
            <a:off x="9614529" y="1835779"/>
            <a:ext cx="1761497" cy="676903"/>
          </a:xfrm>
          <a:prstGeom prst="roundRect">
            <a:avLst>
              <a:gd name="adj" fmla="val 12664"/>
            </a:avLst>
          </a:prstGeom>
          <a:solidFill>
            <a:srgbClr val="FCFDFE"/>
          </a:solidFill>
          <a:ln w="6350">
            <a:solidFill>
              <a:srgbClr val="D5DEE8"/>
            </a:solidFill>
            <a:prstDash val="solid"/>
          </a:ln>
        </p:spPr>
        <p:txBody>
          <a:bodyPr/>
          <a:p/>
        </p:txBody>
      </p:sp>
      <p:sp>
        <p:nvSpPr>
          <p:cNvPr id="21" name="Text 15"/>
          <p:cNvSpPr/>
          <p:nvPr/>
        </p:nvSpPr>
        <p:spPr>
          <a:xfrm>
            <a:off x="9719304" y="1953254"/>
            <a:ext cx="1602747" cy="238753"/>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7480"/>
                </a:solidFill>
                <a:latin typeface="IBM Plex Sans" pitchFamily="34" charset="0"/>
                <a:ea typeface="IBM Plex Sans" pitchFamily="34" charset="-122"/>
                <a:cs typeface="IBM Plex Sans" pitchFamily="34" charset="-120"/>
              </a:rPr>
              <a:t>5</a:t>
            </a:r>
            <a:endParaRPr lang="en-US" sz="1200" dirty="0"/>
          </a:p>
        </p:txBody>
      </p:sp>
      <p:sp>
        <p:nvSpPr>
          <p:cNvPr id="22" name="Text 16"/>
          <p:cNvSpPr/>
          <p:nvPr/>
        </p:nvSpPr>
        <p:spPr>
          <a:xfrm>
            <a:off x="9719304" y="2204707"/>
            <a:ext cx="160274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B1F3A"/>
                </a:solidFill>
                <a:latin typeface="IBM Plex Sans" pitchFamily="34" charset="0"/>
                <a:ea typeface="IBM Plex Sans" pitchFamily="34" charset="-122"/>
                <a:cs typeface="IBM Plex Sans" pitchFamily="34" charset="-120"/>
              </a:rPr>
              <a:t>Report preparation</a:t>
            </a:r>
            <a:endParaRPr lang="en-US" sz="1200" dirty="0"/>
          </a:p>
        </p:txBody>
      </p:sp>
      <p:sp>
        <p:nvSpPr>
          <p:cNvPr id="23" name="Shape 17"/>
          <p:cNvSpPr/>
          <p:nvPr/>
        </p:nvSpPr>
        <p:spPr>
          <a:xfrm>
            <a:off x="815975" y="2842882"/>
            <a:ext cx="5187950" cy="1266164"/>
          </a:xfrm>
          <a:prstGeom prst="roundRect">
            <a:avLst>
              <a:gd name="adj" fmla="val 7773"/>
            </a:avLst>
          </a:prstGeom>
          <a:solidFill>
            <a:srgbClr val="FCFDFE"/>
          </a:solidFill>
          <a:ln w="6350">
            <a:solidFill>
              <a:srgbClr val="D5DEE8"/>
            </a:solidFill>
            <a:prstDash val="solid"/>
          </a:ln>
        </p:spPr>
        <p:txBody>
          <a:bodyPr/>
          <a:p/>
        </p:txBody>
      </p:sp>
      <p:sp>
        <p:nvSpPr>
          <p:cNvPr id="24" name="Text 18"/>
          <p:cNvSpPr/>
          <p:nvPr/>
        </p:nvSpPr>
        <p:spPr>
          <a:xfrm>
            <a:off x="996950" y="2998457"/>
            <a:ext cx="49707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A"/>
                </a:solidFill>
                <a:latin typeface="IBM Plex Sans" pitchFamily="34" charset="0"/>
                <a:ea typeface="IBM Plex Sans" pitchFamily="34" charset="-122"/>
                <a:cs typeface="IBM Plex Sans" pitchFamily="34" charset="-120"/>
              </a:rPr>
              <a:t>MQS Mapping Document (Excel)</a:t>
            </a:r>
            <a:endParaRPr lang="en-US" sz="1400" dirty="0"/>
          </a:p>
        </p:txBody>
      </p:sp>
      <p:sp>
        <p:nvSpPr>
          <p:cNvPr id="25" name="Text 19"/>
          <p:cNvSpPr/>
          <p:nvPr/>
        </p:nvSpPr>
        <p:spPr>
          <a:xfrm>
            <a:off x="996950" y="3323564"/>
            <a:ext cx="910696"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Path name</a:t>
            </a:r>
            <a:endParaRPr lang="en-US" sz="1200" dirty="0"/>
          </a:p>
        </p:txBody>
      </p:sp>
      <p:sp>
        <p:nvSpPr>
          <p:cNvPr id="26" name="Text 20"/>
          <p:cNvSpPr/>
          <p:nvPr/>
        </p:nvSpPr>
        <p:spPr>
          <a:xfrm>
            <a:off x="1958446" y="3323564"/>
            <a:ext cx="935236"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Field name</a:t>
            </a:r>
            <a:endParaRPr lang="en-US" sz="1200" dirty="0"/>
          </a:p>
        </p:txBody>
      </p:sp>
      <p:sp>
        <p:nvSpPr>
          <p:cNvPr id="27" name="Text 21"/>
          <p:cNvSpPr/>
          <p:nvPr/>
        </p:nvSpPr>
        <p:spPr>
          <a:xfrm>
            <a:off x="2944482" y="3323564"/>
            <a:ext cx="833901"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Data type</a:t>
            </a:r>
            <a:endParaRPr lang="en-US" sz="1200" dirty="0"/>
          </a:p>
        </p:txBody>
      </p:sp>
      <p:sp>
        <p:nvSpPr>
          <p:cNvPr id="28" name="Text 22"/>
          <p:cNvSpPr/>
          <p:nvPr/>
        </p:nvSpPr>
        <p:spPr>
          <a:xfrm>
            <a:off x="3829183" y="3323564"/>
            <a:ext cx="1114623"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Orchestration</a:t>
            </a:r>
            <a:endParaRPr lang="en-US" sz="1200" dirty="0"/>
          </a:p>
        </p:txBody>
      </p:sp>
      <p:sp>
        <p:nvSpPr>
          <p:cNvPr id="29" name="Text 23"/>
          <p:cNvSpPr/>
          <p:nvPr/>
        </p:nvSpPr>
        <p:spPr>
          <a:xfrm>
            <a:off x="996950" y="3663917"/>
            <a:ext cx="1971873"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Other validation attributes</a:t>
            </a:r>
            <a:endParaRPr lang="en-US" sz="1200" dirty="0"/>
          </a:p>
        </p:txBody>
      </p:sp>
      <p:sp>
        <p:nvSpPr>
          <p:cNvPr id="30" name="Shape 24"/>
          <p:cNvSpPr/>
          <p:nvPr/>
        </p:nvSpPr>
        <p:spPr>
          <a:xfrm>
            <a:off x="815975" y="4216995"/>
            <a:ext cx="5187950" cy="1266164"/>
          </a:xfrm>
          <a:prstGeom prst="roundRect">
            <a:avLst>
              <a:gd name="adj" fmla="val 7773"/>
            </a:avLst>
          </a:prstGeom>
          <a:solidFill>
            <a:srgbClr val="FCFDFE"/>
          </a:solidFill>
          <a:ln w="6350">
            <a:solidFill>
              <a:srgbClr val="D5DEE8"/>
            </a:solidFill>
            <a:prstDash val="solid"/>
          </a:ln>
        </p:spPr>
        <p:txBody>
          <a:bodyPr/>
          <a:p/>
        </p:txBody>
      </p:sp>
      <p:sp>
        <p:nvSpPr>
          <p:cNvPr id="31" name="Text 25"/>
          <p:cNvSpPr/>
          <p:nvPr/>
        </p:nvSpPr>
        <p:spPr>
          <a:xfrm>
            <a:off x="996950" y="4372570"/>
            <a:ext cx="49707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A"/>
                </a:solidFill>
                <a:latin typeface="IBM Plex Sans" pitchFamily="34" charset="0"/>
                <a:ea typeface="IBM Plex Sans" pitchFamily="34" charset="-122"/>
                <a:cs typeface="IBM Plex Sans" pitchFamily="34" charset="-120"/>
              </a:rPr>
              <a:t>RAML specification</a:t>
            </a:r>
            <a:endParaRPr lang="en-US" sz="1400" dirty="0"/>
          </a:p>
        </p:txBody>
      </p:sp>
      <p:sp>
        <p:nvSpPr>
          <p:cNvPr id="32" name="Text 26"/>
          <p:cNvSpPr/>
          <p:nvPr/>
        </p:nvSpPr>
        <p:spPr>
          <a:xfrm>
            <a:off x="996950" y="4697678"/>
            <a:ext cx="848850"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API paths</a:t>
            </a:r>
            <a:endParaRPr lang="en-US" sz="1200" dirty="0"/>
          </a:p>
        </p:txBody>
      </p:sp>
      <p:sp>
        <p:nvSpPr>
          <p:cNvPr id="33" name="Text 27"/>
          <p:cNvSpPr/>
          <p:nvPr/>
        </p:nvSpPr>
        <p:spPr>
          <a:xfrm>
            <a:off x="1896600" y="4697678"/>
            <a:ext cx="810584"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Variables</a:t>
            </a:r>
            <a:endParaRPr lang="en-US" sz="1200" dirty="0"/>
          </a:p>
        </p:txBody>
      </p:sp>
      <p:sp>
        <p:nvSpPr>
          <p:cNvPr id="34" name="Text 28"/>
          <p:cNvSpPr/>
          <p:nvPr/>
        </p:nvSpPr>
        <p:spPr>
          <a:xfrm>
            <a:off x="2757984" y="4697678"/>
            <a:ext cx="908116"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Data types</a:t>
            </a:r>
            <a:endParaRPr lang="en-US" sz="1200" dirty="0"/>
          </a:p>
        </p:txBody>
      </p:sp>
      <p:sp>
        <p:nvSpPr>
          <p:cNvPr id="35" name="Text 29"/>
          <p:cNvSpPr/>
          <p:nvPr/>
        </p:nvSpPr>
        <p:spPr>
          <a:xfrm>
            <a:off x="3716900" y="4697678"/>
            <a:ext cx="892109"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Structures</a:t>
            </a:r>
            <a:endParaRPr lang="en-US" sz="1200" dirty="0"/>
          </a:p>
        </p:txBody>
      </p:sp>
      <p:sp>
        <p:nvSpPr>
          <p:cNvPr id="36" name="Text 30"/>
          <p:cNvSpPr/>
          <p:nvPr/>
        </p:nvSpPr>
        <p:spPr>
          <a:xfrm>
            <a:off x="4659809" y="4697678"/>
            <a:ext cx="1033859"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Descriptions</a:t>
            </a:r>
            <a:endParaRPr lang="en-US" sz="1200" dirty="0"/>
          </a:p>
        </p:txBody>
      </p:sp>
      <p:sp>
        <p:nvSpPr>
          <p:cNvPr id="37" name="Text 31"/>
          <p:cNvSpPr/>
          <p:nvPr/>
        </p:nvSpPr>
        <p:spPr>
          <a:xfrm>
            <a:off x="996950" y="5038030"/>
            <a:ext cx="1486462" cy="289553"/>
          </a:xfrm>
          <a:prstGeom prst="roundRect">
            <a:avLst>
              <a:gd name="adj" fmla="val 43861"/>
            </a:avLst>
          </a:prstGeom>
          <a:solidFill>
            <a:srgbClr val="DCEBF0"/>
          </a:solidFill>
          <a:ln/>
        </p:spPr>
        <p:txBody>
          <a:bodyPr wrap="none" lIns="0" tIns="0" rIns="0" bIns="0" rtlCol="0" anchor="ctr">
            <a:normAutofit/>
          </a:bodyPr>
          <a:lstStyle/>
          <a:p>
            <a:pPr algn="ctr"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Required / optional</a:t>
            </a:r>
            <a:endParaRPr lang="en-US" sz="1200" dirty="0"/>
          </a:p>
        </p:txBody>
      </p:sp>
      <p:sp>
        <p:nvSpPr>
          <p:cNvPr id="38" name="Shape 32"/>
          <p:cNvSpPr/>
          <p:nvPr/>
        </p:nvSpPr>
        <p:spPr>
          <a:xfrm>
            <a:off x="6184900" y="2839707"/>
            <a:ext cx="2546350" cy="1094714"/>
          </a:xfrm>
          <a:prstGeom prst="roundRect">
            <a:avLst>
              <a:gd name="adj" fmla="val 9281"/>
            </a:avLst>
          </a:prstGeom>
          <a:solidFill>
            <a:srgbClr val="0B1F3A"/>
          </a:solidFill>
          <a:ln/>
        </p:spPr>
        <p:txBody>
          <a:bodyPr/>
          <a:p/>
        </p:txBody>
      </p:sp>
      <p:sp>
        <p:nvSpPr>
          <p:cNvPr id="39" name="Text 33"/>
          <p:cNvSpPr/>
          <p:nvPr/>
        </p:nvSpPr>
        <p:spPr>
          <a:xfrm>
            <a:off x="6362700" y="2966707"/>
            <a:ext cx="225647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3CCBD3"/>
                </a:solidFill>
                <a:latin typeface="IBM Plex Sans" pitchFamily="34" charset="0"/>
                <a:ea typeface="IBM Plex Sans" pitchFamily="34" charset="-122"/>
                <a:cs typeface="IBM Plex Sans" pitchFamily="34" charset="-120"/>
              </a:rPr>
              <a:t>250+</a:t>
            </a:r>
            <a:endParaRPr lang="en-US" sz="3000" dirty="0"/>
          </a:p>
        </p:txBody>
      </p:sp>
      <p:sp>
        <p:nvSpPr>
          <p:cNvPr id="40" name="Text 34"/>
          <p:cNvSpPr/>
          <p:nvPr/>
        </p:nvSpPr>
        <p:spPr>
          <a:xfrm>
            <a:off x="6362700" y="3411207"/>
            <a:ext cx="225647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datasets may need validation</a:t>
            </a:r>
            <a:endParaRPr lang="en-US" sz="1200" dirty="0"/>
          </a:p>
        </p:txBody>
      </p:sp>
      <p:sp>
        <p:nvSpPr>
          <p:cNvPr id="41" name="Shape 35"/>
          <p:cNvSpPr/>
          <p:nvPr/>
        </p:nvSpPr>
        <p:spPr>
          <a:xfrm>
            <a:off x="8832850" y="2839707"/>
            <a:ext cx="2546350" cy="1094714"/>
          </a:xfrm>
          <a:prstGeom prst="roundRect">
            <a:avLst>
              <a:gd name="adj" fmla="val 9281"/>
            </a:avLst>
          </a:prstGeom>
          <a:solidFill>
            <a:srgbClr val="0B1F3A"/>
          </a:solidFill>
          <a:ln/>
        </p:spPr>
        <p:txBody>
          <a:bodyPr/>
          <a:p/>
        </p:txBody>
      </p:sp>
      <p:sp>
        <p:nvSpPr>
          <p:cNvPr id="42" name="Text 36"/>
          <p:cNvSpPr/>
          <p:nvPr/>
        </p:nvSpPr>
        <p:spPr>
          <a:xfrm>
            <a:off x="9010650" y="2966707"/>
            <a:ext cx="225647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3CCBD3"/>
                </a:solidFill>
                <a:latin typeface="IBM Plex Sans" pitchFamily="34" charset="0"/>
                <a:ea typeface="IBM Plex Sans" pitchFamily="34" charset="-122"/>
                <a:cs typeface="IBM Plex Sans" pitchFamily="34" charset="-120"/>
              </a:rPr>
              <a:t>5+</a:t>
            </a:r>
            <a:endParaRPr lang="en-US" sz="3000" dirty="0"/>
          </a:p>
        </p:txBody>
      </p:sp>
      <p:sp>
        <p:nvSpPr>
          <p:cNvPr id="43" name="Text 37"/>
          <p:cNvSpPr/>
          <p:nvPr/>
        </p:nvSpPr>
        <p:spPr>
          <a:xfrm>
            <a:off x="9010650" y="3411207"/>
            <a:ext cx="225647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8EEF5"/>
                </a:solidFill>
                <a:latin typeface="IBM Plex Sans" pitchFamily="34" charset="0"/>
                <a:ea typeface="IBM Plex Sans" pitchFamily="34" charset="-122"/>
                <a:cs typeface="IBM Plex Sans" pitchFamily="34" charset="-120"/>
              </a:rPr>
              <a:t>people can review the same Excel</a:t>
            </a:r>
            <a:endParaRPr lang="en-US" sz="1200" dirty="0"/>
          </a:p>
        </p:txBody>
      </p:sp>
      <p:pic>
        <p:nvPicPr>
          <p:cNvPr id="44" name="Image 4" descr="Warning">    </p:cNvPr>
          <p:cNvPicPr>
            <a:picLocks noChangeAspect="1"/>
          </p:cNvPicPr>
          <p:nvPr/>
        </p:nvPicPr>
        <p:blipFill>
          <a:blip r:embed="rId5"/>
          <a:srcRect l="0" r="0" t="0" b="0"/>
          <a:stretch/>
        </p:blipFill>
        <p:spPr>
          <a:xfrm>
            <a:off x="6210300" y="4104580"/>
            <a:ext cx="177800" cy="177800"/>
          </a:xfrm>
          <a:prstGeom prst="rect">
            <a:avLst/>
          </a:prstGeom>
        </p:spPr>
      </p:pic>
      <p:sp>
        <p:nvSpPr>
          <p:cNvPr id="45" name="Text 38"/>
          <p:cNvSpPr/>
          <p:nvPr/>
        </p:nvSpPr>
        <p:spPr>
          <a:xfrm>
            <a:off x="6477000" y="4086820"/>
            <a:ext cx="50231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Time-consuming checking: 3–4 days (≈24–32 hours)</a:t>
            </a:r>
            <a:endParaRPr lang="en-US" sz="1200" dirty="0"/>
          </a:p>
        </p:txBody>
      </p:sp>
      <p:pic>
        <p:nvPicPr>
          <p:cNvPr id="46" name="Image 5" descr="Warning">    </p:cNvPr>
          <p:cNvPicPr>
            <a:picLocks noChangeAspect="1"/>
          </p:cNvPicPr>
          <p:nvPr/>
        </p:nvPicPr>
        <p:blipFill>
          <a:blip r:embed="rId6"/>
          <a:srcRect l="0" r="0" t="0" b="0"/>
          <a:stretch/>
        </p:blipFill>
        <p:spPr>
          <a:xfrm>
            <a:off x="6210300" y="4381434"/>
            <a:ext cx="177800" cy="177800"/>
          </a:xfrm>
          <a:prstGeom prst="rect">
            <a:avLst/>
          </a:prstGeom>
        </p:spPr>
      </p:pic>
      <p:sp>
        <p:nvSpPr>
          <p:cNvPr id="47" name="Text 39"/>
          <p:cNvSpPr/>
          <p:nvPr/>
        </p:nvSpPr>
        <p:spPr>
          <a:xfrm>
            <a:off x="6477000" y="4363674"/>
            <a:ext cx="50231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Repetitive checks and high human effort</a:t>
            </a:r>
            <a:endParaRPr lang="en-US" sz="1200" dirty="0"/>
          </a:p>
        </p:txBody>
      </p:sp>
      <p:pic>
        <p:nvPicPr>
          <p:cNvPr id="48" name="Image 6" descr="Warning">    </p:cNvPr>
          <p:cNvPicPr>
            <a:picLocks noChangeAspect="1"/>
          </p:cNvPicPr>
          <p:nvPr/>
        </p:nvPicPr>
        <p:blipFill>
          <a:blip r:embed="rId7"/>
          <a:srcRect l="0" r="0" t="0" b="0"/>
          <a:stretch/>
        </p:blipFill>
        <p:spPr>
          <a:xfrm>
            <a:off x="6210300" y="4658288"/>
            <a:ext cx="177800" cy="177800"/>
          </a:xfrm>
          <a:prstGeom prst="rect">
            <a:avLst/>
          </a:prstGeom>
        </p:spPr>
      </p:pic>
      <p:sp>
        <p:nvSpPr>
          <p:cNvPr id="49" name="Text 40"/>
          <p:cNvSpPr/>
          <p:nvPr/>
        </p:nvSpPr>
        <p:spPr>
          <a:xfrm>
            <a:off x="6477000" y="4640528"/>
            <a:ext cx="50231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Risk of human error and missed mismatches</a:t>
            </a:r>
            <a:endParaRPr lang="en-US" sz="1200" dirty="0"/>
          </a:p>
        </p:txBody>
      </p:sp>
      <p:pic>
        <p:nvPicPr>
          <p:cNvPr id="50" name="Image 7" descr="Warning">    </p:cNvPr>
          <p:cNvPicPr>
            <a:picLocks noChangeAspect="1"/>
          </p:cNvPicPr>
          <p:nvPr/>
        </p:nvPicPr>
        <p:blipFill>
          <a:blip r:embed="rId8"/>
          <a:srcRect l="0" r="0" t="0" b="0"/>
          <a:stretch/>
        </p:blipFill>
        <p:spPr>
          <a:xfrm>
            <a:off x="6210300" y="4935141"/>
            <a:ext cx="177800" cy="177800"/>
          </a:xfrm>
          <a:prstGeom prst="rect">
            <a:avLst/>
          </a:prstGeom>
        </p:spPr>
      </p:pic>
      <p:sp>
        <p:nvSpPr>
          <p:cNvPr id="51" name="Text 41"/>
          <p:cNvSpPr/>
          <p:nvPr/>
        </p:nvSpPr>
        <p:spPr>
          <a:xfrm>
            <a:off x="6477000" y="4917380"/>
            <a:ext cx="50231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Several reviewers tied up on one Excel</a:t>
            </a:r>
            <a:endParaRPr lang="en-US" sz="1200" dirty="0"/>
          </a:p>
        </p:txBody>
      </p:sp>
      <p:pic>
        <p:nvPicPr>
          <p:cNvPr id="52" name="Image 8" descr="Warning">    </p:cNvPr>
          <p:cNvPicPr>
            <a:picLocks noChangeAspect="1"/>
          </p:cNvPicPr>
          <p:nvPr/>
        </p:nvPicPr>
        <p:blipFill>
          <a:blip r:embed="rId9"/>
          <a:srcRect l="0" r="0" t="0" b="0"/>
          <a:stretch/>
        </p:blipFill>
        <p:spPr>
          <a:xfrm>
            <a:off x="6210300" y="5211994"/>
            <a:ext cx="177800" cy="177800"/>
          </a:xfrm>
          <a:prstGeom prst="rect">
            <a:avLst/>
          </a:prstGeom>
        </p:spPr>
      </p:pic>
      <p:sp>
        <p:nvSpPr>
          <p:cNvPr id="53" name="Text 42"/>
          <p:cNvSpPr/>
          <p:nvPr/>
        </p:nvSpPr>
        <p:spPr>
          <a:xfrm>
            <a:off x="6477000" y="5194234"/>
            <a:ext cx="50231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F3A"/>
                </a:solidFill>
                <a:latin typeface="IBM Plex Sans" pitchFamily="34" charset="0"/>
                <a:ea typeface="IBM Plex Sans" pitchFamily="34" charset="-122"/>
                <a:cs typeface="IBM Plex Sans" pitchFamily="34" charset="-120"/>
              </a:rPr>
              <a:t>Hard to keep results consistent</a:t>
            </a:r>
            <a:endParaRPr lang="en-US" sz="1200" dirty="0"/>
          </a:p>
        </p:txBody>
      </p:sp>
      <p:sp>
        <p:nvSpPr>
          <p:cNvPr id="54" name="Text 43"/>
          <p:cNvSpPr/>
          <p:nvPr/>
        </p:nvSpPr>
        <p:spPr>
          <a:xfrm>
            <a:off x="812800" y="6238247"/>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55" name="Text 44"/>
          <p:cNvSpPr/>
          <p:nvPr/>
        </p:nvSpPr>
        <p:spPr>
          <a:xfrm>
            <a:off x="9804400" y="6238247"/>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2 / 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02 · INPUT FILES</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Three inputs drive the validation</a:t>
            </a:r>
            <a:endParaRPr lang="en-US" sz="3000" dirty="0"/>
          </a:p>
        </p:txBody>
      </p:sp>
      <p:sp>
        <p:nvSpPr>
          <p:cNvPr id="35" name="Text 33"/>
          <p:cNvSpPr/>
          <p:nvPr/>
        </p:nvSpPr>
        <p:spPr>
          <a:xfrm>
            <a:off x="812800" y="6238247"/>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36" name="Text 34"/>
          <p:cNvSpPr/>
          <p:nvPr/>
        </p:nvSpPr>
        <p:spPr>
          <a:xfrm>
            <a:off x="9804400" y="6238247"/>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3 / 7</a:t>
            </a:r>
            <a:endParaRPr lang="en-US" sz="1200" dirty="0"/>
          </a:p>
        </p:txBody>
      </p:sp>
      <p:sp>
        <p:nvSpPr>
          <p:cNvPr id="37" name="Rounded Rectangle 36"/>
          <p:cNvSpPr/>
          <p:nvPr/>
        </p:nvSpPr>
        <p:spPr>
          <a:xfrm>
            <a:off x="813816" y="1783080"/>
            <a:ext cx="3383280" cy="4206240"/>
          </a:xfrm>
          <a:prstGeom prst="roundRect">
            <a:avLst>
              <a:gd name="adj" fmla="val 324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4984" y="1984248"/>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39" name="TextBox 38"/>
          <p:cNvSpPr txBox="1"/>
          <p:nvPr/>
        </p:nvSpPr>
        <p:spPr>
          <a:xfrm>
            <a:off x="1517904" y="1965960"/>
            <a:ext cx="2514600" cy="256032"/>
          </a:xfrm>
          <a:prstGeom prst="rect">
            <a:avLst/>
          </a:prstGeom>
          <a:noFill/>
        </p:spPr>
        <p:txBody>
          <a:bodyPr wrap="square" lIns="0" rIns="0" tIns="0" bIns="0" anchor="t">
            <a:spAutoFit/>
          </a:bodyPr>
          <a:lstStyle/>
          <a:p>
            <a:pPr algn="l"/>
            <a:r>
              <a:rPr sz="1300" b="1" i="0">
                <a:solidFill>
                  <a:srgbClr val="0B1F3A"/>
                </a:solidFill>
                <a:latin typeface="IBM Plex Sans"/>
              </a:rPr>
              <a:t>MQS Mapping Document</a:t>
            </a:r>
          </a:p>
        </p:txBody>
      </p:sp>
      <p:sp>
        <p:nvSpPr>
          <p:cNvPr id="40" name="TextBox 39"/>
          <p:cNvSpPr txBox="1"/>
          <p:nvPr/>
        </p:nvSpPr>
        <p:spPr>
          <a:xfrm>
            <a:off x="1517904" y="2258568"/>
            <a:ext cx="2514600" cy="201168"/>
          </a:xfrm>
          <a:prstGeom prst="rect">
            <a:avLst/>
          </a:prstGeom>
          <a:noFill/>
        </p:spPr>
        <p:txBody>
          <a:bodyPr wrap="square" lIns="0" rIns="0" tIns="0" bIns="0" anchor="t">
            <a:spAutoFit/>
          </a:bodyPr>
          <a:lstStyle/>
          <a:p>
            <a:pPr algn="l"/>
            <a:r>
              <a:rPr sz="1050" b="1" i="0">
                <a:solidFill>
                  <a:srgbClr val="097480"/>
                </a:solidFill>
                <a:latin typeface="IBM Plex Sans"/>
              </a:rPr>
              <a:t>.xlsx · client mapping sheet</a:t>
            </a:r>
          </a:p>
        </p:txBody>
      </p:sp>
      <p:sp>
        <p:nvSpPr>
          <p:cNvPr id="41" name="Rounded Rectangle 40"/>
          <p:cNvSpPr/>
          <p:nvPr/>
        </p:nvSpPr>
        <p:spPr>
          <a:xfrm>
            <a:off x="996696" y="2697480"/>
            <a:ext cx="3017520" cy="1783080"/>
          </a:xfrm>
          <a:prstGeom prst="roundRect">
            <a:avLst>
              <a:gd name="adj" fmla="val 3076"/>
            </a:avLst>
          </a:prstGeom>
          <a:solidFill>
            <a:srgbClr val="FFFFFF"/>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6696" y="2697480"/>
            <a:ext cx="3017520" cy="310896"/>
          </a:xfrm>
          <a:prstGeom prst="roundRect">
            <a:avLst>
              <a:gd name="adj" fmla="val 17647"/>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9848" y="2697480"/>
            <a:ext cx="548640" cy="310896"/>
          </a:xfrm>
          <a:prstGeom prst="rect">
            <a:avLst/>
          </a:prstGeom>
          <a:noFill/>
        </p:spPr>
        <p:txBody>
          <a:bodyPr wrap="square" lIns="0" rIns="0" tIns="0" bIns="0" anchor="ctr">
            <a:spAutoFit/>
          </a:bodyPr>
          <a:lstStyle/>
          <a:p>
            <a:pPr algn="l"/>
            <a:r>
              <a:rPr sz="850" b="1" i="0">
                <a:solidFill>
                  <a:srgbClr val="FFFFFF"/>
                </a:solidFill>
                <a:latin typeface="IBM Plex Sans"/>
              </a:rPr>
              <a:t>Path</a:t>
            </a:r>
          </a:p>
        </p:txBody>
      </p:sp>
      <p:sp>
        <p:nvSpPr>
          <p:cNvPr id="44" name="TextBox 43"/>
          <p:cNvSpPr txBox="1"/>
          <p:nvPr/>
        </p:nvSpPr>
        <p:spPr>
          <a:xfrm>
            <a:off x="1618488" y="2697480"/>
            <a:ext cx="1207008" cy="310896"/>
          </a:xfrm>
          <a:prstGeom prst="rect">
            <a:avLst/>
          </a:prstGeom>
          <a:noFill/>
        </p:spPr>
        <p:txBody>
          <a:bodyPr wrap="square" lIns="0" rIns="0" tIns="0" bIns="0" anchor="ctr">
            <a:spAutoFit/>
          </a:bodyPr>
          <a:lstStyle/>
          <a:p>
            <a:pPr algn="l"/>
            <a:r>
              <a:rPr sz="850" b="1" i="0">
                <a:solidFill>
                  <a:srgbClr val="FFFFFF"/>
                </a:solidFill>
                <a:latin typeface="IBM Plex Sans"/>
              </a:rPr>
              <a:t>Field name</a:t>
            </a:r>
          </a:p>
        </p:txBody>
      </p:sp>
      <p:sp>
        <p:nvSpPr>
          <p:cNvPr id="45" name="TextBox 44"/>
          <p:cNvSpPr txBox="1"/>
          <p:nvPr/>
        </p:nvSpPr>
        <p:spPr>
          <a:xfrm>
            <a:off x="2825496" y="2697480"/>
            <a:ext cx="475488" cy="310896"/>
          </a:xfrm>
          <a:prstGeom prst="rect">
            <a:avLst/>
          </a:prstGeom>
          <a:noFill/>
        </p:spPr>
        <p:txBody>
          <a:bodyPr wrap="square" lIns="0" rIns="0" tIns="0" bIns="0" anchor="ctr">
            <a:spAutoFit/>
          </a:bodyPr>
          <a:lstStyle/>
          <a:p>
            <a:pPr algn="l"/>
            <a:r>
              <a:rPr sz="850" b="1" i="0">
                <a:solidFill>
                  <a:srgbClr val="FFFFFF"/>
                </a:solidFill>
                <a:latin typeface="IBM Plex Sans"/>
              </a:rPr>
              <a:t>Type</a:t>
            </a:r>
          </a:p>
        </p:txBody>
      </p:sp>
      <p:sp>
        <p:nvSpPr>
          <p:cNvPr id="46" name="TextBox 45"/>
          <p:cNvSpPr txBox="1"/>
          <p:nvPr/>
        </p:nvSpPr>
        <p:spPr>
          <a:xfrm>
            <a:off x="3300984" y="2697480"/>
            <a:ext cx="640080" cy="310896"/>
          </a:xfrm>
          <a:prstGeom prst="rect">
            <a:avLst/>
          </a:prstGeom>
          <a:noFill/>
        </p:spPr>
        <p:txBody>
          <a:bodyPr wrap="square" lIns="0" rIns="0" tIns="0" bIns="0" anchor="ctr">
            <a:spAutoFit/>
          </a:bodyPr>
          <a:lstStyle/>
          <a:p>
            <a:pPr algn="l"/>
            <a:r>
              <a:rPr sz="850" b="1" i="0">
                <a:solidFill>
                  <a:srgbClr val="FFFFFF"/>
                </a:solidFill>
                <a:latin typeface="IBM Plex Sans"/>
              </a:rPr>
              <a:t>Flag</a:t>
            </a:r>
          </a:p>
        </p:txBody>
      </p:sp>
      <p:sp>
        <p:nvSpPr>
          <p:cNvPr id="47" name="Rectangle 46"/>
          <p:cNvSpPr/>
          <p:nvPr/>
        </p:nvSpPr>
        <p:spPr>
          <a:xfrm>
            <a:off x="1014984" y="3044952"/>
            <a:ext cx="2980944" cy="33832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 y="3044952"/>
            <a:ext cx="530352" cy="338328"/>
          </a:xfrm>
          <a:prstGeom prst="rect">
            <a:avLst/>
          </a:prstGeom>
          <a:noFill/>
        </p:spPr>
        <p:txBody>
          <a:bodyPr wrap="square" lIns="0" rIns="0" tIns="0" bIns="0" anchor="ctr">
            <a:spAutoFit/>
          </a:bodyPr>
          <a:lstStyle/>
          <a:p>
            <a:pPr algn="l"/>
            <a:r>
              <a:rPr sz="850" b="0" i="0">
                <a:solidFill>
                  <a:srgbClr val="0B1F3A"/>
                </a:solidFill>
                <a:latin typeface="IBM Plex Sans"/>
              </a:rPr>
              <a:t>control</a:t>
            </a:r>
          </a:p>
        </p:txBody>
      </p:sp>
      <p:sp>
        <p:nvSpPr>
          <p:cNvPr id="49" name="TextBox 48"/>
          <p:cNvSpPr txBox="1"/>
          <p:nvPr/>
        </p:nvSpPr>
        <p:spPr>
          <a:xfrm>
            <a:off x="1618488" y="3044952"/>
            <a:ext cx="1188720" cy="338328"/>
          </a:xfrm>
          <a:prstGeom prst="rect">
            <a:avLst/>
          </a:prstGeom>
          <a:noFill/>
        </p:spPr>
        <p:txBody>
          <a:bodyPr wrap="square" lIns="0" rIns="0" tIns="0" bIns="0" anchor="ctr">
            <a:spAutoFit/>
          </a:bodyPr>
          <a:lstStyle/>
          <a:p>
            <a:pPr algn="l"/>
            <a:r>
              <a:rPr sz="850" b="0" i="0">
                <a:solidFill>
                  <a:srgbClr val="0B1F3A"/>
                </a:solidFill>
                <a:latin typeface="IBM Plex Sans"/>
              </a:rPr>
              <a:t>brandIdentifier</a:t>
            </a:r>
          </a:p>
        </p:txBody>
      </p:sp>
      <p:sp>
        <p:nvSpPr>
          <p:cNvPr id="50" name="TextBox 49"/>
          <p:cNvSpPr txBox="1"/>
          <p:nvPr/>
        </p:nvSpPr>
        <p:spPr>
          <a:xfrm>
            <a:off x="2825496" y="3044952"/>
            <a:ext cx="457200" cy="338328"/>
          </a:xfrm>
          <a:prstGeom prst="rect">
            <a:avLst/>
          </a:prstGeom>
          <a:noFill/>
        </p:spPr>
        <p:txBody>
          <a:bodyPr wrap="square" lIns="0" rIns="0" tIns="0" bIns="0" anchor="ctr">
            <a:spAutoFit/>
          </a:bodyPr>
          <a:lstStyle/>
          <a:p>
            <a:pPr algn="l"/>
            <a:r>
              <a:rPr sz="850" b="0" i="0">
                <a:solidFill>
                  <a:srgbClr val="0B1F3A"/>
                </a:solidFill>
                <a:latin typeface="IBM Plex Sans"/>
              </a:rPr>
              <a:t>string</a:t>
            </a:r>
          </a:p>
        </p:txBody>
      </p:sp>
      <p:sp>
        <p:nvSpPr>
          <p:cNvPr id="51" name="TextBox 50"/>
          <p:cNvSpPr txBox="1"/>
          <p:nvPr/>
        </p:nvSpPr>
        <p:spPr>
          <a:xfrm>
            <a:off x="3300984" y="3044952"/>
            <a:ext cx="621792" cy="338328"/>
          </a:xfrm>
          <a:prstGeom prst="rect">
            <a:avLst/>
          </a:prstGeom>
          <a:noFill/>
        </p:spPr>
        <p:txBody>
          <a:bodyPr wrap="square" lIns="0" rIns="0" tIns="0" bIns="0" anchor="ctr">
            <a:spAutoFit/>
          </a:bodyPr>
          <a:lstStyle/>
          <a:p>
            <a:pPr algn="l"/>
            <a:r>
              <a:rPr sz="850" b="0" i="0">
                <a:solidFill>
                  <a:srgbClr val="0B1F3A"/>
                </a:solidFill>
                <a:latin typeface="IBM Plex Sans"/>
              </a:rPr>
              <a:t>Optional</a:t>
            </a:r>
          </a:p>
        </p:txBody>
      </p:sp>
      <p:sp>
        <p:nvSpPr>
          <p:cNvPr id="52" name="TextBox 51"/>
          <p:cNvSpPr txBox="1"/>
          <p:nvPr/>
        </p:nvSpPr>
        <p:spPr>
          <a:xfrm>
            <a:off x="1069848" y="3396996"/>
            <a:ext cx="530352" cy="338328"/>
          </a:xfrm>
          <a:prstGeom prst="rect">
            <a:avLst/>
          </a:prstGeom>
          <a:noFill/>
        </p:spPr>
        <p:txBody>
          <a:bodyPr wrap="square" lIns="0" rIns="0" tIns="0" bIns="0" anchor="ctr">
            <a:spAutoFit/>
          </a:bodyPr>
          <a:lstStyle/>
          <a:p>
            <a:pPr algn="l"/>
            <a:r>
              <a:rPr sz="850" b="0" i="0">
                <a:solidFill>
                  <a:srgbClr val="0B1F3A"/>
                </a:solidFill>
                <a:latin typeface="IBM Plex Sans"/>
              </a:rPr>
              <a:t>control</a:t>
            </a:r>
          </a:p>
        </p:txBody>
      </p:sp>
      <p:sp>
        <p:nvSpPr>
          <p:cNvPr id="53" name="TextBox 52"/>
          <p:cNvSpPr txBox="1"/>
          <p:nvPr/>
        </p:nvSpPr>
        <p:spPr>
          <a:xfrm>
            <a:off x="1618488" y="3396996"/>
            <a:ext cx="1188720" cy="338328"/>
          </a:xfrm>
          <a:prstGeom prst="rect">
            <a:avLst/>
          </a:prstGeom>
          <a:noFill/>
        </p:spPr>
        <p:txBody>
          <a:bodyPr wrap="square" lIns="0" rIns="0" tIns="0" bIns="0" anchor="ctr">
            <a:spAutoFit/>
          </a:bodyPr>
          <a:lstStyle/>
          <a:p>
            <a:pPr algn="l"/>
            <a:r>
              <a:rPr sz="850" b="0" i="0">
                <a:solidFill>
                  <a:srgbClr val="0B1F3A"/>
                </a:solidFill>
                <a:latin typeface="IBM Plex Sans"/>
              </a:rPr>
              <a:t>businessSourceCode</a:t>
            </a:r>
          </a:p>
        </p:txBody>
      </p:sp>
      <p:sp>
        <p:nvSpPr>
          <p:cNvPr id="54" name="TextBox 53"/>
          <p:cNvSpPr txBox="1"/>
          <p:nvPr/>
        </p:nvSpPr>
        <p:spPr>
          <a:xfrm>
            <a:off x="2825496" y="3396996"/>
            <a:ext cx="457200" cy="338328"/>
          </a:xfrm>
          <a:prstGeom prst="rect">
            <a:avLst/>
          </a:prstGeom>
          <a:noFill/>
        </p:spPr>
        <p:txBody>
          <a:bodyPr wrap="square" lIns="0" rIns="0" tIns="0" bIns="0" anchor="ctr">
            <a:spAutoFit/>
          </a:bodyPr>
          <a:lstStyle/>
          <a:p>
            <a:pPr algn="l"/>
            <a:r>
              <a:rPr sz="850" b="0" i="0">
                <a:solidFill>
                  <a:srgbClr val="0B1F3A"/>
                </a:solidFill>
                <a:latin typeface="IBM Plex Sans"/>
              </a:rPr>
              <a:t>string</a:t>
            </a:r>
          </a:p>
        </p:txBody>
      </p:sp>
      <p:sp>
        <p:nvSpPr>
          <p:cNvPr id="55" name="TextBox 54"/>
          <p:cNvSpPr txBox="1"/>
          <p:nvPr/>
        </p:nvSpPr>
        <p:spPr>
          <a:xfrm>
            <a:off x="3300984" y="3396996"/>
            <a:ext cx="621792" cy="338328"/>
          </a:xfrm>
          <a:prstGeom prst="rect">
            <a:avLst/>
          </a:prstGeom>
          <a:noFill/>
        </p:spPr>
        <p:txBody>
          <a:bodyPr wrap="square" lIns="0" rIns="0" tIns="0" bIns="0" anchor="ctr">
            <a:spAutoFit/>
          </a:bodyPr>
          <a:lstStyle/>
          <a:p>
            <a:pPr algn="l"/>
            <a:r>
              <a:rPr sz="850" b="0" i="0">
                <a:solidFill>
                  <a:srgbClr val="0B1F3A"/>
                </a:solidFill>
                <a:latin typeface="IBM Plex Sans"/>
              </a:rPr>
              <a:t>Optional</a:t>
            </a:r>
          </a:p>
        </p:txBody>
      </p:sp>
      <p:sp>
        <p:nvSpPr>
          <p:cNvPr id="56" name="Rectangle 55"/>
          <p:cNvSpPr/>
          <p:nvPr/>
        </p:nvSpPr>
        <p:spPr>
          <a:xfrm>
            <a:off x="1014984" y="3749039"/>
            <a:ext cx="2980944" cy="33832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9848" y="3749039"/>
            <a:ext cx="530352" cy="338328"/>
          </a:xfrm>
          <a:prstGeom prst="rect">
            <a:avLst/>
          </a:prstGeom>
          <a:noFill/>
        </p:spPr>
        <p:txBody>
          <a:bodyPr wrap="square" lIns="0" rIns="0" tIns="0" bIns="0" anchor="ctr">
            <a:spAutoFit/>
          </a:bodyPr>
          <a:lstStyle/>
          <a:p>
            <a:pPr algn="l"/>
            <a:r>
              <a:rPr sz="850" b="0" i="0">
                <a:solidFill>
                  <a:srgbClr val="0B1F3A"/>
                </a:solidFill>
                <a:latin typeface="IBM Plex Sans"/>
              </a:rPr>
              <a:t>control</a:t>
            </a:r>
          </a:p>
        </p:txBody>
      </p:sp>
      <p:sp>
        <p:nvSpPr>
          <p:cNvPr id="58" name="TextBox 57"/>
          <p:cNvSpPr txBox="1"/>
          <p:nvPr/>
        </p:nvSpPr>
        <p:spPr>
          <a:xfrm>
            <a:off x="1618488" y="3749039"/>
            <a:ext cx="1188720" cy="338328"/>
          </a:xfrm>
          <a:prstGeom prst="rect">
            <a:avLst/>
          </a:prstGeom>
          <a:noFill/>
        </p:spPr>
        <p:txBody>
          <a:bodyPr wrap="square" lIns="0" rIns="0" tIns="0" bIns="0" anchor="ctr">
            <a:spAutoFit/>
          </a:bodyPr>
          <a:lstStyle/>
          <a:p>
            <a:pPr algn="l"/>
            <a:r>
              <a:rPr sz="850" b="0" i="0">
                <a:solidFill>
                  <a:srgbClr val="0B1F3A"/>
                </a:solidFill>
                <a:latin typeface="IBM Plex Sans"/>
              </a:rPr>
              <a:t>channelCode</a:t>
            </a:r>
          </a:p>
        </p:txBody>
      </p:sp>
      <p:sp>
        <p:nvSpPr>
          <p:cNvPr id="59" name="TextBox 58"/>
          <p:cNvSpPr txBox="1"/>
          <p:nvPr/>
        </p:nvSpPr>
        <p:spPr>
          <a:xfrm>
            <a:off x="2825496" y="3749039"/>
            <a:ext cx="457200" cy="338328"/>
          </a:xfrm>
          <a:prstGeom prst="rect">
            <a:avLst/>
          </a:prstGeom>
          <a:noFill/>
        </p:spPr>
        <p:txBody>
          <a:bodyPr wrap="square" lIns="0" rIns="0" tIns="0" bIns="0" anchor="ctr">
            <a:spAutoFit/>
          </a:bodyPr>
          <a:lstStyle/>
          <a:p>
            <a:pPr algn="l"/>
            <a:r>
              <a:rPr sz="850" b="0" i="0">
                <a:solidFill>
                  <a:srgbClr val="0B1F3A"/>
                </a:solidFill>
                <a:latin typeface="IBM Plex Sans"/>
              </a:rPr>
              <a:t>string</a:t>
            </a:r>
          </a:p>
        </p:txBody>
      </p:sp>
      <p:sp>
        <p:nvSpPr>
          <p:cNvPr id="60" name="TextBox 59"/>
          <p:cNvSpPr txBox="1"/>
          <p:nvPr/>
        </p:nvSpPr>
        <p:spPr>
          <a:xfrm>
            <a:off x="3300984" y="3749039"/>
            <a:ext cx="621792" cy="338328"/>
          </a:xfrm>
          <a:prstGeom prst="rect">
            <a:avLst/>
          </a:prstGeom>
          <a:noFill/>
        </p:spPr>
        <p:txBody>
          <a:bodyPr wrap="square" lIns="0" rIns="0" tIns="0" bIns="0" anchor="ctr">
            <a:spAutoFit/>
          </a:bodyPr>
          <a:lstStyle/>
          <a:p>
            <a:pPr algn="l"/>
            <a:r>
              <a:rPr sz="850" b="0" i="0">
                <a:solidFill>
                  <a:srgbClr val="0B1F3A"/>
                </a:solidFill>
                <a:latin typeface="IBM Plex Sans"/>
              </a:rPr>
              <a:t>Mandatory</a:t>
            </a:r>
          </a:p>
        </p:txBody>
      </p:sp>
      <p:sp>
        <p:nvSpPr>
          <p:cNvPr id="61" name="TextBox 60"/>
          <p:cNvSpPr txBox="1"/>
          <p:nvPr/>
        </p:nvSpPr>
        <p:spPr>
          <a:xfrm>
            <a:off x="1069848" y="4101084"/>
            <a:ext cx="530352" cy="338328"/>
          </a:xfrm>
          <a:prstGeom prst="rect">
            <a:avLst/>
          </a:prstGeom>
          <a:noFill/>
        </p:spPr>
        <p:txBody>
          <a:bodyPr wrap="square" lIns="0" rIns="0" tIns="0" bIns="0" anchor="ctr">
            <a:spAutoFit/>
          </a:bodyPr>
          <a:lstStyle/>
          <a:p>
            <a:pPr algn="l"/>
            <a:r>
              <a:rPr sz="850" b="0" i="0">
                <a:solidFill>
                  <a:srgbClr val="0B1F3A"/>
                </a:solidFill>
                <a:latin typeface="IBM Plex Sans"/>
              </a:rPr>
              <a:t>order[]</a:t>
            </a:r>
          </a:p>
        </p:txBody>
      </p:sp>
      <p:sp>
        <p:nvSpPr>
          <p:cNvPr id="62" name="TextBox 61"/>
          <p:cNvSpPr txBox="1"/>
          <p:nvPr/>
        </p:nvSpPr>
        <p:spPr>
          <a:xfrm>
            <a:off x="1618488" y="4101084"/>
            <a:ext cx="1188720" cy="338328"/>
          </a:xfrm>
          <a:prstGeom prst="rect">
            <a:avLst/>
          </a:prstGeom>
          <a:noFill/>
        </p:spPr>
        <p:txBody>
          <a:bodyPr wrap="square" lIns="0" rIns="0" tIns="0" bIns="0" anchor="ctr">
            <a:spAutoFit/>
          </a:bodyPr>
          <a:lstStyle/>
          <a:p>
            <a:pPr algn="l"/>
            <a:r>
              <a:rPr sz="850" b="0" i="0">
                <a:solidFill>
                  <a:srgbClr val="0B1F3A"/>
                </a:solidFill>
                <a:latin typeface="IBM Plex Sans"/>
              </a:rPr>
              <a:t>quantity</a:t>
            </a:r>
          </a:p>
        </p:txBody>
      </p:sp>
      <p:sp>
        <p:nvSpPr>
          <p:cNvPr id="63" name="TextBox 62"/>
          <p:cNvSpPr txBox="1"/>
          <p:nvPr/>
        </p:nvSpPr>
        <p:spPr>
          <a:xfrm>
            <a:off x="2825496" y="4101084"/>
            <a:ext cx="457200" cy="338328"/>
          </a:xfrm>
          <a:prstGeom prst="rect">
            <a:avLst/>
          </a:prstGeom>
          <a:noFill/>
        </p:spPr>
        <p:txBody>
          <a:bodyPr wrap="square" lIns="0" rIns="0" tIns="0" bIns="0" anchor="ctr">
            <a:spAutoFit/>
          </a:bodyPr>
          <a:lstStyle/>
          <a:p>
            <a:pPr algn="l"/>
            <a:r>
              <a:rPr sz="850" b="0" i="0">
                <a:solidFill>
                  <a:srgbClr val="0B1F3A"/>
                </a:solidFill>
                <a:latin typeface="IBM Plex Sans"/>
              </a:rPr>
              <a:t>integer</a:t>
            </a:r>
          </a:p>
        </p:txBody>
      </p:sp>
      <p:sp>
        <p:nvSpPr>
          <p:cNvPr id="64" name="TextBox 63"/>
          <p:cNvSpPr txBox="1"/>
          <p:nvPr/>
        </p:nvSpPr>
        <p:spPr>
          <a:xfrm>
            <a:off x="3300984" y="4101084"/>
            <a:ext cx="621792" cy="338328"/>
          </a:xfrm>
          <a:prstGeom prst="rect">
            <a:avLst/>
          </a:prstGeom>
          <a:noFill/>
        </p:spPr>
        <p:txBody>
          <a:bodyPr wrap="square" lIns="0" rIns="0" tIns="0" bIns="0" anchor="ctr">
            <a:spAutoFit/>
          </a:bodyPr>
          <a:lstStyle/>
          <a:p>
            <a:pPr algn="l"/>
            <a:r>
              <a:rPr sz="850" b="0" i="0">
                <a:solidFill>
                  <a:srgbClr val="0B1F3A"/>
                </a:solidFill>
                <a:latin typeface="IBM Plex Sans"/>
              </a:rPr>
              <a:t>Mandatory</a:t>
            </a:r>
          </a:p>
        </p:txBody>
      </p:sp>
      <p:sp>
        <p:nvSpPr>
          <p:cNvPr id="65" name="Rounded Rectangle 64"/>
          <p:cNvSpPr/>
          <p:nvPr/>
        </p:nvSpPr>
        <p:spPr>
          <a:xfrm>
            <a:off x="3099816" y="4517136"/>
            <a:ext cx="914400" cy="182880"/>
          </a:xfrm>
          <a:prstGeom prst="roundRect">
            <a:avLst>
              <a:gd name="adj" fmla="val 50000"/>
            </a:avLst>
          </a:prstGeom>
          <a:solidFill>
            <a:srgbClr val="FFFFFF"/>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099816" y="4517136"/>
            <a:ext cx="914400" cy="182880"/>
          </a:xfrm>
          <a:prstGeom prst="rect">
            <a:avLst/>
          </a:prstGeom>
          <a:noFill/>
        </p:spPr>
        <p:txBody>
          <a:bodyPr wrap="square" lIns="0" rIns="0" tIns="0" bIns="0" anchor="ctr">
            <a:spAutoFit/>
          </a:bodyPr>
          <a:lstStyle/>
          <a:p>
            <a:pPr algn="ctr"/>
            <a:r>
              <a:rPr sz="800" b="1" i="0">
                <a:solidFill>
                  <a:srgbClr val="5B6C84"/>
                </a:solidFill>
                <a:latin typeface="IBM Plex Sans"/>
              </a:rPr>
              <a:t>ILLUSTRATIVE</a:t>
            </a:r>
          </a:p>
        </p:txBody>
      </p:sp>
      <p:sp>
        <p:nvSpPr>
          <p:cNvPr id="67" name="TextBox 66"/>
          <p:cNvSpPr txBox="1"/>
          <p:nvPr/>
        </p:nvSpPr>
        <p:spPr>
          <a:xfrm>
            <a:off x="1014984" y="4636008"/>
            <a:ext cx="3017520" cy="182880"/>
          </a:xfrm>
          <a:prstGeom prst="rect">
            <a:avLst/>
          </a:prstGeom>
          <a:noFill/>
        </p:spPr>
        <p:txBody>
          <a:bodyPr wrap="square" lIns="0" rIns="0" tIns="0" bIns="0" anchor="t">
            <a:spAutoFit/>
          </a:bodyPr>
          <a:lstStyle/>
          <a:p>
            <a:pPr algn="l"/>
            <a:r>
              <a:rPr sz="950" b="1" i="0">
                <a:solidFill>
                  <a:srgbClr val="097480"/>
                </a:solidFill>
                <a:latin typeface="IBM Plex Sans"/>
              </a:rPr>
              <a:t>WHAT IT CONTAINS</a:t>
            </a:r>
          </a:p>
        </p:txBody>
      </p:sp>
      <p:sp>
        <p:nvSpPr>
          <p:cNvPr id="68" name="Oval 67"/>
          <p:cNvSpPr/>
          <p:nvPr/>
        </p:nvSpPr>
        <p:spPr>
          <a:xfrm>
            <a:off x="1014984" y="4956048"/>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16152" y="4892040"/>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Interface path, field name</a:t>
            </a:r>
          </a:p>
        </p:txBody>
      </p:sp>
      <p:sp>
        <p:nvSpPr>
          <p:cNvPr id="70" name="Oval 69"/>
          <p:cNvSpPr/>
          <p:nvPr/>
        </p:nvSpPr>
        <p:spPr>
          <a:xfrm>
            <a:off x="1014984" y="5193792"/>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16152" y="5129783"/>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Data type</a:t>
            </a:r>
          </a:p>
        </p:txBody>
      </p:sp>
      <p:sp>
        <p:nvSpPr>
          <p:cNvPr id="72" name="Oval 71"/>
          <p:cNvSpPr/>
          <p:nvPr/>
        </p:nvSpPr>
        <p:spPr>
          <a:xfrm>
            <a:off x="1014984" y="5431536"/>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216152" y="5367527"/>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Mandatory / Optional flag</a:t>
            </a:r>
          </a:p>
        </p:txBody>
      </p:sp>
      <p:sp>
        <p:nvSpPr>
          <p:cNvPr id="74" name="Rounded Rectangle 73"/>
          <p:cNvSpPr/>
          <p:nvPr/>
        </p:nvSpPr>
        <p:spPr>
          <a:xfrm>
            <a:off x="4402836" y="1783080"/>
            <a:ext cx="3383280" cy="4206240"/>
          </a:xfrm>
          <a:prstGeom prst="roundRect">
            <a:avLst>
              <a:gd name="adj" fmla="val 324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604004" y="1984248"/>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76" name="TextBox 75"/>
          <p:cNvSpPr txBox="1"/>
          <p:nvPr/>
        </p:nvSpPr>
        <p:spPr>
          <a:xfrm>
            <a:off x="5106924" y="1965960"/>
            <a:ext cx="2514600" cy="256032"/>
          </a:xfrm>
          <a:prstGeom prst="rect">
            <a:avLst/>
          </a:prstGeom>
          <a:noFill/>
        </p:spPr>
        <p:txBody>
          <a:bodyPr wrap="square" lIns="0" rIns="0" tIns="0" bIns="0" anchor="t">
            <a:spAutoFit/>
          </a:bodyPr>
          <a:lstStyle/>
          <a:p>
            <a:pPr algn="l"/>
            <a:r>
              <a:rPr sz="1300" b="1" i="0">
                <a:solidFill>
                  <a:srgbClr val="0B1F3A"/>
                </a:solidFill>
                <a:latin typeface="IBM Plex Sans"/>
              </a:rPr>
              <a:t>Static Document RAML File</a:t>
            </a:r>
          </a:p>
        </p:txBody>
      </p:sp>
      <p:sp>
        <p:nvSpPr>
          <p:cNvPr id="77" name="TextBox 76"/>
          <p:cNvSpPr txBox="1"/>
          <p:nvPr/>
        </p:nvSpPr>
        <p:spPr>
          <a:xfrm>
            <a:off x="5106924" y="2258568"/>
            <a:ext cx="2514600" cy="201168"/>
          </a:xfrm>
          <a:prstGeom prst="rect">
            <a:avLst/>
          </a:prstGeom>
          <a:noFill/>
        </p:spPr>
        <p:txBody>
          <a:bodyPr wrap="square" lIns="0" rIns="0" tIns="0" bIns="0" anchor="t">
            <a:spAutoFit/>
          </a:bodyPr>
          <a:lstStyle/>
          <a:p>
            <a:pPr algn="l"/>
            <a:r>
              <a:rPr sz="1050" b="1" i="0">
                <a:solidFill>
                  <a:srgbClr val="097480"/>
                </a:solidFill>
                <a:latin typeface="IBM Plex Sans"/>
              </a:rPr>
              <a:t>.raml / .yaml · static document</a:t>
            </a:r>
          </a:p>
        </p:txBody>
      </p:sp>
      <p:sp>
        <p:nvSpPr>
          <p:cNvPr id="78" name="Rounded Rectangle 77"/>
          <p:cNvSpPr/>
          <p:nvPr/>
        </p:nvSpPr>
        <p:spPr>
          <a:xfrm>
            <a:off x="4585716" y="2697480"/>
            <a:ext cx="3017520" cy="1783080"/>
          </a:xfrm>
          <a:prstGeom prst="roundRect">
            <a:avLst>
              <a:gd name="adj" fmla="val 3076"/>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crop_orig.png"/>
          <p:cNvPicPr>
            <a:picLocks noChangeAspect="1"/>
          </p:cNvPicPr>
          <p:nvPr/>
        </p:nvPicPr>
        <p:blipFill>
          <a:blip r:embed="rId3"/>
          <a:stretch>
            <a:fillRect/>
          </a:stretch>
        </p:blipFill>
        <p:spPr>
          <a:xfrm>
            <a:off x="4677156" y="2761488"/>
            <a:ext cx="2834640" cy="1714957"/>
          </a:xfrm>
          <a:prstGeom prst="rect">
            <a:avLst/>
          </a:prstGeom>
        </p:spPr>
      </p:pic>
      <p:sp>
        <p:nvSpPr>
          <p:cNvPr id="80" name="TextBox 79"/>
          <p:cNvSpPr txBox="1"/>
          <p:nvPr/>
        </p:nvSpPr>
        <p:spPr>
          <a:xfrm>
            <a:off x="4604004" y="4636008"/>
            <a:ext cx="3017520" cy="182880"/>
          </a:xfrm>
          <a:prstGeom prst="rect">
            <a:avLst/>
          </a:prstGeom>
          <a:noFill/>
        </p:spPr>
        <p:txBody>
          <a:bodyPr wrap="square" lIns="0" rIns="0" tIns="0" bIns="0" anchor="t">
            <a:spAutoFit/>
          </a:bodyPr>
          <a:lstStyle/>
          <a:p>
            <a:pPr algn="l"/>
            <a:r>
              <a:rPr sz="950" b="1" i="0">
                <a:solidFill>
                  <a:srgbClr val="097480"/>
                </a:solidFill>
                <a:latin typeface="IBM Plex Sans"/>
              </a:rPr>
              <a:t>WHY CONVERT IT</a:t>
            </a:r>
          </a:p>
        </p:txBody>
      </p:sp>
      <p:sp>
        <p:nvSpPr>
          <p:cNvPr id="81" name="Oval 80"/>
          <p:cNvSpPr/>
          <p:nvPr/>
        </p:nvSpPr>
        <p:spPr>
          <a:xfrm>
            <a:off x="4604004" y="4956048"/>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805172" y="4892040"/>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Verbose, nested YAML</a:t>
            </a:r>
          </a:p>
        </p:txBody>
      </p:sp>
      <p:sp>
        <p:nvSpPr>
          <p:cNvPr id="83" name="Oval 82"/>
          <p:cNvSpPr/>
          <p:nvPr/>
        </p:nvSpPr>
        <p:spPr>
          <a:xfrm>
            <a:off x="4604004" y="5193792"/>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805172" y="5129783"/>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Type and required per field</a:t>
            </a:r>
          </a:p>
        </p:txBody>
      </p:sp>
      <p:sp>
        <p:nvSpPr>
          <p:cNvPr id="85" name="Oval 84"/>
          <p:cNvSpPr/>
          <p:nvPr/>
        </p:nvSpPr>
        <p:spPr>
          <a:xfrm>
            <a:off x="4604004" y="5431536"/>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805172" y="5367527"/>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Hard to compare at scale</a:t>
            </a:r>
          </a:p>
        </p:txBody>
      </p:sp>
      <p:sp>
        <p:nvSpPr>
          <p:cNvPr id="87" name="Rounded Rectangle 86"/>
          <p:cNvSpPr/>
          <p:nvPr/>
        </p:nvSpPr>
        <p:spPr>
          <a:xfrm>
            <a:off x="7991856" y="1783080"/>
            <a:ext cx="3383280" cy="4206240"/>
          </a:xfrm>
          <a:prstGeom prst="roundRect">
            <a:avLst>
              <a:gd name="adj" fmla="val 324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193024" y="1984248"/>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89" name="TextBox 88"/>
          <p:cNvSpPr txBox="1"/>
          <p:nvPr/>
        </p:nvSpPr>
        <p:spPr>
          <a:xfrm>
            <a:off x="8695944" y="1965960"/>
            <a:ext cx="2514600" cy="256032"/>
          </a:xfrm>
          <a:prstGeom prst="rect">
            <a:avLst/>
          </a:prstGeom>
          <a:noFill/>
        </p:spPr>
        <p:txBody>
          <a:bodyPr wrap="square" lIns="0" rIns="0" tIns="0" bIns="0" anchor="t">
            <a:spAutoFit/>
          </a:bodyPr>
          <a:lstStyle/>
          <a:p>
            <a:pPr algn="l"/>
            <a:r>
              <a:rPr sz="1300" b="1" i="0">
                <a:solidFill>
                  <a:srgbClr val="0B1F3A"/>
                </a:solidFill>
                <a:latin typeface="IBM Plex Sans"/>
              </a:rPr>
              <a:t>Compact RAML (TXT)</a:t>
            </a:r>
          </a:p>
        </p:txBody>
      </p:sp>
      <p:sp>
        <p:nvSpPr>
          <p:cNvPr id="90" name="TextBox 89"/>
          <p:cNvSpPr txBox="1"/>
          <p:nvPr/>
        </p:nvSpPr>
        <p:spPr>
          <a:xfrm>
            <a:off x="8695944" y="2258568"/>
            <a:ext cx="2514600" cy="201168"/>
          </a:xfrm>
          <a:prstGeom prst="rect">
            <a:avLst/>
          </a:prstGeom>
          <a:noFill/>
        </p:spPr>
        <p:txBody>
          <a:bodyPr wrap="square" lIns="0" rIns="0" tIns="0" bIns="0" anchor="t">
            <a:spAutoFit/>
          </a:bodyPr>
          <a:lstStyle/>
          <a:p>
            <a:pPr algn="l"/>
            <a:r>
              <a:rPr sz="1050" b="1" i="0">
                <a:solidFill>
                  <a:srgbClr val="097480"/>
                </a:solidFill>
                <a:latin typeface="IBM Plex Sans"/>
              </a:rPr>
              <a:t>.txt · output of Stage 1</a:t>
            </a:r>
          </a:p>
        </p:txBody>
      </p:sp>
      <p:sp>
        <p:nvSpPr>
          <p:cNvPr id="91" name="Rounded Rectangle 90"/>
          <p:cNvSpPr/>
          <p:nvPr/>
        </p:nvSpPr>
        <p:spPr>
          <a:xfrm>
            <a:off x="8174736" y="2697480"/>
            <a:ext cx="3017520" cy="1783080"/>
          </a:xfrm>
          <a:prstGeom prst="roundRect">
            <a:avLst>
              <a:gd name="adj" fmla="val 3076"/>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crop_compact.png"/>
          <p:cNvPicPr>
            <a:picLocks noChangeAspect="1"/>
          </p:cNvPicPr>
          <p:nvPr/>
        </p:nvPicPr>
        <p:blipFill>
          <a:blip r:embed="rId4"/>
          <a:stretch>
            <a:fillRect/>
          </a:stretch>
        </p:blipFill>
        <p:spPr>
          <a:xfrm>
            <a:off x="8266175" y="3154777"/>
            <a:ext cx="2834640" cy="868485"/>
          </a:xfrm>
          <a:prstGeom prst="rect">
            <a:avLst/>
          </a:prstGeom>
        </p:spPr>
      </p:pic>
      <p:sp>
        <p:nvSpPr>
          <p:cNvPr id="93" name="TextBox 92"/>
          <p:cNvSpPr txBox="1"/>
          <p:nvPr/>
        </p:nvSpPr>
        <p:spPr>
          <a:xfrm>
            <a:off x="8193024" y="4636008"/>
            <a:ext cx="3017520" cy="182880"/>
          </a:xfrm>
          <a:prstGeom prst="rect">
            <a:avLst/>
          </a:prstGeom>
          <a:noFill/>
        </p:spPr>
        <p:txBody>
          <a:bodyPr wrap="square" lIns="0" rIns="0" tIns="0" bIns="0" anchor="t">
            <a:spAutoFit/>
          </a:bodyPr>
          <a:lstStyle/>
          <a:p>
            <a:pPr algn="l"/>
            <a:r>
              <a:rPr sz="950" b="1" i="0">
                <a:solidFill>
                  <a:srgbClr val="097480"/>
                </a:solidFill>
                <a:latin typeface="IBM Plex Sans"/>
              </a:rPr>
              <a:t>WHAT WE GET</a:t>
            </a:r>
          </a:p>
        </p:txBody>
      </p:sp>
      <p:sp>
        <p:nvSpPr>
          <p:cNvPr id="94" name="Oval 93"/>
          <p:cNvSpPr/>
          <p:nvPr/>
        </p:nvSpPr>
        <p:spPr>
          <a:xfrm>
            <a:off x="8193024" y="4956048"/>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94192" y="4892040"/>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One compact line per field</a:t>
            </a:r>
          </a:p>
        </p:txBody>
      </p:sp>
      <p:sp>
        <p:nvSpPr>
          <p:cNvPr id="96" name="Oval 95"/>
          <p:cNvSpPr/>
          <p:nvPr/>
        </p:nvSpPr>
        <p:spPr>
          <a:xfrm>
            <a:off x="8193024" y="5193792"/>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394192" y="5129783"/>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Hierarchy and arrays kept</a:t>
            </a:r>
          </a:p>
        </p:txBody>
      </p:sp>
      <p:sp>
        <p:nvSpPr>
          <p:cNvPr id="98" name="Oval 97"/>
          <p:cNvSpPr/>
          <p:nvPr/>
        </p:nvSpPr>
        <p:spPr>
          <a:xfrm>
            <a:off x="8193024" y="5431536"/>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394192" y="5367527"/>
            <a:ext cx="2779776" cy="192024"/>
          </a:xfrm>
          <a:prstGeom prst="rect">
            <a:avLst/>
          </a:prstGeom>
          <a:noFill/>
        </p:spPr>
        <p:txBody>
          <a:bodyPr wrap="square" lIns="0" rIns="0" tIns="0" bIns="0" anchor="t">
            <a:spAutoFit/>
          </a:bodyPr>
          <a:lstStyle/>
          <a:p>
            <a:pPr algn="l"/>
            <a:r>
              <a:rPr sz="1150" b="0" i="0">
                <a:solidFill>
                  <a:srgbClr val="3F5068"/>
                </a:solidFill>
                <a:latin typeface="IBM Plex Sans"/>
              </a:rPr>
              <a:t>Easy field-by-field compare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03 · AGENT ARCHITECTURE</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End-to-end validation architecture</a:t>
            </a:r>
            <a:endParaRPr lang="en-US" sz="3000" dirty="0"/>
          </a:p>
        </p:txBody>
      </p:sp>
      <p:sp>
        <p:nvSpPr>
          <p:cNvPr id="31" name="Text 18"/>
          <p:cNvSpPr/>
          <p:nvPr/>
        </p:nvSpPr>
        <p:spPr>
          <a:xfrm>
            <a:off x="812800" y="6238249"/>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32" name="Text 19"/>
          <p:cNvSpPr/>
          <p:nvPr/>
        </p:nvSpPr>
        <p:spPr>
          <a:xfrm>
            <a:off x="9804400" y="6238249"/>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4 / 7</a:t>
            </a:r>
            <a:endParaRPr lang="en-US" sz="1200" dirty="0"/>
          </a:p>
        </p:txBody>
      </p:sp>
      <p:sp>
        <p:nvSpPr>
          <p:cNvPr id="33" name="TextBox 32"/>
          <p:cNvSpPr txBox="1"/>
          <p:nvPr/>
        </p:nvSpPr>
        <p:spPr>
          <a:xfrm>
            <a:off x="81381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INPUT LAYER</a:t>
            </a:r>
          </a:p>
        </p:txBody>
      </p:sp>
      <p:sp>
        <p:nvSpPr>
          <p:cNvPr id="34" name="Right Arrow 33"/>
          <p:cNvSpPr/>
          <p:nvPr/>
        </p:nvSpPr>
        <p:spPr>
          <a:xfrm>
            <a:off x="2363724" y="3451860"/>
            <a:ext cx="237744"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1975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STAGE 1</a:t>
            </a:r>
          </a:p>
        </p:txBody>
      </p:sp>
      <p:sp>
        <p:nvSpPr>
          <p:cNvPr id="36" name="Right Arrow 35"/>
          <p:cNvSpPr/>
          <p:nvPr/>
        </p:nvSpPr>
        <p:spPr>
          <a:xfrm>
            <a:off x="4169663" y="3451860"/>
            <a:ext cx="237744"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2569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NORMALIZED INPUTS</a:t>
            </a:r>
          </a:p>
        </p:txBody>
      </p:sp>
      <p:sp>
        <p:nvSpPr>
          <p:cNvPr id="38" name="Right Arrow 37"/>
          <p:cNvSpPr/>
          <p:nvPr/>
        </p:nvSpPr>
        <p:spPr>
          <a:xfrm>
            <a:off x="5975603" y="3451860"/>
            <a:ext cx="237744"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3163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STAGE 2</a:t>
            </a:r>
          </a:p>
        </p:txBody>
      </p:sp>
      <p:sp>
        <p:nvSpPr>
          <p:cNvPr id="40" name="Right Arrow 39"/>
          <p:cNvSpPr/>
          <p:nvPr/>
        </p:nvSpPr>
        <p:spPr>
          <a:xfrm>
            <a:off x="7781544" y="3451860"/>
            <a:ext cx="237744"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3757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OUTPUT</a:t>
            </a:r>
          </a:p>
        </p:txBody>
      </p:sp>
      <p:sp>
        <p:nvSpPr>
          <p:cNvPr id="42" name="Right Arrow 41"/>
          <p:cNvSpPr/>
          <p:nvPr/>
        </p:nvSpPr>
        <p:spPr>
          <a:xfrm>
            <a:off x="9587484" y="3451860"/>
            <a:ext cx="237744"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43516" y="1737360"/>
            <a:ext cx="1531620" cy="201168"/>
          </a:xfrm>
          <a:prstGeom prst="rect">
            <a:avLst/>
          </a:prstGeom>
          <a:noFill/>
        </p:spPr>
        <p:txBody>
          <a:bodyPr wrap="square" lIns="0" rIns="0" tIns="0" bIns="0" anchor="t">
            <a:spAutoFit/>
          </a:bodyPr>
          <a:lstStyle/>
          <a:p>
            <a:pPr algn="l"/>
            <a:r>
              <a:rPr sz="950" b="1" i="0">
                <a:solidFill>
                  <a:srgbClr val="097480"/>
                </a:solidFill>
                <a:latin typeface="IBM Plex Sans"/>
              </a:rPr>
              <a:t>HUMAN REVIEW</a:t>
            </a:r>
          </a:p>
        </p:txBody>
      </p:sp>
      <p:sp>
        <p:nvSpPr>
          <p:cNvPr id="44" name="Rounded Rectangle 43"/>
          <p:cNvSpPr/>
          <p:nvPr/>
        </p:nvSpPr>
        <p:spPr>
          <a:xfrm>
            <a:off x="813816" y="2011680"/>
            <a:ext cx="1531620" cy="1490472"/>
          </a:xfrm>
          <a:prstGeom prst="roundRect">
            <a:avLst>
              <a:gd name="adj" fmla="val 6134"/>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1832" y="2139696"/>
            <a:ext cx="310896" cy="310896"/>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IBM Plex Sans"/>
              </a:rPr>
              <a:t>X</a:t>
            </a:r>
          </a:p>
        </p:txBody>
      </p:sp>
      <p:sp>
        <p:nvSpPr>
          <p:cNvPr id="46" name="TextBox 45"/>
          <p:cNvSpPr txBox="1"/>
          <p:nvPr/>
        </p:nvSpPr>
        <p:spPr>
          <a:xfrm>
            <a:off x="941832" y="2514600"/>
            <a:ext cx="1275588" cy="502920"/>
          </a:xfrm>
          <a:prstGeom prst="rect">
            <a:avLst/>
          </a:prstGeom>
          <a:noFill/>
        </p:spPr>
        <p:txBody>
          <a:bodyPr wrap="square" lIns="0" rIns="0" tIns="0" bIns="0" anchor="t">
            <a:spAutoFit/>
          </a:bodyPr>
          <a:lstStyle/>
          <a:p>
            <a:pPr algn="l"/>
            <a:r>
              <a:rPr sz="1200" b="1" i="0">
                <a:solidFill>
                  <a:srgbClr val="0B1F3A"/>
                </a:solidFill>
                <a:latin typeface="IBM Plex Sans"/>
              </a:rPr>
              <a:t>MQS Mapping Document</a:t>
            </a:r>
          </a:p>
        </p:txBody>
      </p:sp>
      <p:sp>
        <p:nvSpPr>
          <p:cNvPr id="47" name="TextBox 46"/>
          <p:cNvSpPr txBox="1"/>
          <p:nvPr/>
        </p:nvSpPr>
        <p:spPr>
          <a:xfrm>
            <a:off x="941832" y="3108960"/>
            <a:ext cx="1275588" cy="228600"/>
          </a:xfrm>
          <a:prstGeom prst="rect">
            <a:avLst/>
          </a:prstGeom>
          <a:noFill/>
        </p:spPr>
        <p:txBody>
          <a:bodyPr wrap="square" lIns="0" rIns="0" tIns="0" bIns="0" anchor="t">
            <a:spAutoFit/>
          </a:bodyPr>
          <a:lstStyle/>
          <a:p>
            <a:pPr algn="l"/>
            <a:r>
              <a:rPr sz="1100" b="0" i="0">
                <a:solidFill>
                  <a:srgbClr val="5B6C84"/>
                </a:solidFill>
                <a:latin typeface="IBM Plex Sans"/>
              </a:rPr>
              <a:t>.xlsx</a:t>
            </a:r>
          </a:p>
        </p:txBody>
      </p:sp>
      <p:sp>
        <p:nvSpPr>
          <p:cNvPr id="48" name="Rounded Rectangle 47"/>
          <p:cNvSpPr/>
          <p:nvPr/>
        </p:nvSpPr>
        <p:spPr>
          <a:xfrm>
            <a:off x="813816" y="3584448"/>
            <a:ext cx="1531620" cy="1490472"/>
          </a:xfrm>
          <a:prstGeom prst="roundRect">
            <a:avLst>
              <a:gd name="adj" fmla="val 6134"/>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41832" y="3712463"/>
            <a:ext cx="310896" cy="310896"/>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IBM Plex Sans"/>
              </a:rPr>
              <a:t>R</a:t>
            </a:r>
          </a:p>
        </p:txBody>
      </p:sp>
      <p:sp>
        <p:nvSpPr>
          <p:cNvPr id="50" name="TextBox 49"/>
          <p:cNvSpPr txBox="1"/>
          <p:nvPr/>
        </p:nvSpPr>
        <p:spPr>
          <a:xfrm>
            <a:off x="941832" y="4087368"/>
            <a:ext cx="1275588" cy="502920"/>
          </a:xfrm>
          <a:prstGeom prst="rect">
            <a:avLst/>
          </a:prstGeom>
          <a:noFill/>
        </p:spPr>
        <p:txBody>
          <a:bodyPr wrap="square" lIns="0" rIns="0" tIns="0" bIns="0" anchor="t">
            <a:spAutoFit/>
          </a:bodyPr>
          <a:lstStyle/>
          <a:p>
            <a:pPr algn="l"/>
            <a:r>
              <a:rPr sz="1200" b="1" i="0">
                <a:solidFill>
                  <a:srgbClr val="0B1F3A"/>
                </a:solidFill>
                <a:latin typeface="IBM Plex Sans"/>
              </a:rPr>
              <a:t>Static Document RAML File</a:t>
            </a:r>
          </a:p>
        </p:txBody>
      </p:sp>
      <p:sp>
        <p:nvSpPr>
          <p:cNvPr id="51" name="TextBox 50"/>
          <p:cNvSpPr txBox="1"/>
          <p:nvPr/>
        </p:nvSpPr>
        <p:spPr>
          <a:xfrm>
            <a:off x="941832" y="4681728"/>
            <a:ext cx="1275588" cy="228600"/>
          </a:xfrm>
          <a:prstGeom prst="rect">
            <a:avLst/>
          </a:prstGeom>
          <a:noFill/>
        </p:spPr>
        <p:txBody>
          <a:bodyPr wrap="square" lIns="0" rIns="0" tIns="0" bIns="0" anchor="t">
            <a:spAutoFit/>
          </a:bodyPr>
          <a:lstStyle/>
          <a:p>
            <a:pPr algn="l"/>
            <a:r>
              <a:rPr sz="1100" b="0" i="0">
                <a:solidFill>
                  <a:srgbClr val="5B6C84"/>
                </a:solidFill>
                <a:latin typeface="IBM Plex Sans"/>
              </a:rPr>
              <a:t>.yaml / .raml</a:t>
            </a:r>
          </a:p>
        </p:txBody>
      </p:sp>
      <p:sp>
        <p:nvSpPr>
          <p:cNvPr id="52" name="Rounded Rectangle 51"/>
          <p:cNvSpPr/>
          <p:nvPr/>
        </p:nvSpPr>
        <p:spPr>
          <a:xfrm>
            <a:off x="2619756" y="2011680"/>
            <a:ext cx="1531620" cy="3063240"/>
          </a:xfrm>
          <a:prstGeom prst="roundRect">
            <a:avLst>
              <a:gd name="adj" fmla="val 597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56916" y="2148840"/>
            <a:ext cx="1257300" cy="502920"/>
          </a:xfrm>
          <a:prstGeom prst="rect">
            <a:avLst/>
          </a:prstGeom>
          <a:noFill/>
        </p:spPr>
        <p:txBody>
          <a:bodyPr wrap="square" lIns="0" rIns="0" tIns="0" bIns="0" anchor="t">
            <a:spAutoFit/>
          </a:bodyPr>
          <a:lstStyle/>
          <a:p>
            <a:pPr algn="l"/>
            <a:r>
              <a:rPr sz="1300" b="1" i="0">
                <a:solidFill>
                  <a:srgbClr val="FFFFFF"/>
                </a:solidFill>
                <a:latin typeface="IBM Plex Sans"/>
              </a:rPr>
              <a:t>Conversion Agent</a:t>
            </a:r>
          </a:p>
        </p:txBody>
      </p:sp>
      <p:sp>
        <p:nvSpPr>
          <p:cNvPr id="54" name="TextBox 53"/>
          <p:cNvSpPr txBox="1"/>
          <p:nvPr/>
        </p:nvSpPr>
        <p:spPr>
          <a:xfrm>
            <a:off x="2756916" y="2724912"/>
            <a:ext cx="1257300" cy="548640"/>
          </a:xfrm>
          <a:prstGeom prst="rect">
            <a:avLst/>
          </a:prstGeom>
          <a:noFill/>
        </p:spPr>
        <p:txBody>
          <a:bodyPr wrap="square" lIns="0" rIns="0" tIns="0" bIns="0" anchor="t">
            <a:spAutoFit/>
          </a:bodyPr>
          <a:lstStyle/>
          <a:p>
            <a:pPr algn="l"/>
            <a:r>
              <a:rPr sz="1050" b="1" i="0">
                <a:solidFill>
                  <a:srgbClr val="3CCBD3"/>
                </a:solidFill>
                <a:latin typeface="IBM Plex Sans"/>
              </a:rPr>
              <a:t>Conversion prompt + one-shot</a:t>
            </a:r>
          </a:p>
        </p:txBody>
      </p:sp>
      <p:sp>
        <p:nvSpPr>
          <p:cNvPr id="55" name="TextBox 54"/>
          <p:cNvSpPr txBox="1"/>
          <p:nvPr/>
        </p:nvSpPr>
        <p:spPr>
          <a:xfrm>
            <a:off x="2756916" y="3310128"/>
            <a:ext cx="1257300" cy="1691640"/>
          </a:xfrm>
          <a:prstGeom prst="rect">
            <a:avLst/>
          </a:prstGeom>
          <a:noFill/>
        </p:spPr>
        <p:txBody>
          <a:bodyPr wrap="square" lIns="0" rIns="0" tIns="0" bIns="0" anchor="t">
            <a:spAutoFit/>
          </a:bodyPr>
          <a:lstStyle/>
          <a:p>
            <a:pPr algn="l">
              <a:spcAft>
                <a:spcPts val="500"/>
              </a:spcAft>
            </a:pPr>
            <a:r>
              <a:rPr sz="1050" b="0" i="0">
                <a:solidFill>
                  <a:srgbClr val="DCEBF0"/>
                </a:solidFill>
                <a:latin typeface="IBM Plex Sans"/>
              </a:rPr>
              <a:t>Converts RAML to compact key-value TXT</a:t>
            </a:r>
          </a:p>
          <a:p>
            <a:pPr algn="l">
              <a:spcAft>
                <a:spcPts val="500"/>
              </a:spcAft>
            </a:pPr>
            <a:r>
              <a:rPr sz="1050" b="0" i="0">
                <a:solidFill>
                  <a:srgbClr val="DCEBF0"/>
                </a:solidFill>
                <a:latin typeface="IBM Plex Sans"/>
              </a:rPr>
              <a:t>Keeps hierarchy, names, types, required flags, arrays</a:t>
            </a:r>
          </a:p>
          <a:p>
            <a:pPr algn="l">
              <a:spcAft>
                <a:spcPts val="500"/>
              </a:spcAft>
            </a:pPr>
            <a:r>
              <a:rPr sz="1050" b="0" i="0">
                <a:solidFill>
                  <a:srgbClr val="DCEBF0"/>
                </a:solidFill>
                <a:latin typeface="IBM Plex Sans"/>
              </a:rPr>
              <a:t>No validation here</a:t>
            </a:r>
          </a:p>
        </p:txBody>
      </p:sp>
      <p:sp>
        <p:nvSpPr>
          <p:cNvPr id="56" name="Rounded Rectangle 55"/>
          <p:cNvSpPr/>
          <p:nvPr/>
        </p:nvSpPr>
        <p:spPr>
          <a:xfrm>
            <a:off x="4425696" y="2011680"/>
            <a:ext cx="1531620" cy="1490472"/>
          </a:xfrm>
          <a:prstGeom prst="roundRect">
            <a:avLst>
              <a:gd name="adj" fmla="val 6134"/>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53712" y="2148840"/>
            <a:ext cx="1275588" cy="457200"/>
          </a:xfrm>
          <a:prstGeom prst="rect">
            <a:avLst/>
          </a:prstGeom>
          <a:noFill/>
        </p:spPr>
        <p:txBody>
          <a:bodyPr wrap="square" lIns="0" rIns="0" tIns="0" bIns="0" anchor="t">
            <a:spAutoFit/>
          </a:bodyPr>
          <a:lstStyle/>
          <a:p>
            <a:pPr algn="l"/>
            <a:r>
              <a:rPr sz="1250" b="1" i="0">
                <a:solidFill>
                  <a:srgbClr val="0B1F3A"/>
                </a:solidFill>
                <a:latin typeface="IBM Plex Sans"/>
              </a:rPr>
              <a:t>MQS Mapping Excel</a:t>
            </a:r>
          </a:p>
        </p:txBody>
      </p:sp>
      <p:sp>
        <p:nvSpPr>
          <p:cNvPr id="58" name="TextBox 57"/>
          <p:cNvSpPr txBox="1"/>
          <p:nvPr/>
        </p:nvSpPr>
        <p:spPr>
          <a:xfrm>
            <a:off x="4553712" y="2651760"/>
            <a:ext cx="1275588" cy="777240"/>
          </a:xfrm>
          <a:prstGeom prst="rect">
            <a:avLst/>
          </a:prstGeom>
          <a:noFill/>
        </p:spPr>
        <p:txBody>
          <a:bodyPr wrap="square" lIns="0" rIns="0" tIns="0" bIns="0" anchor="t">
            <a:spAutoFit/>
          </a:bodyPr>
          <a:lstStyle/>
          <a:p>
            <a:pPr algn="l"/>
            <a:r>
              <a:rPr sz="1050" b="0" i="0">
                <a:solidFill>
                  <a:srgbClr val="5B6C84"/>
                </a:solidFill>
                <a:latin typeface="IBM Plex Sans"/>
              </a:rPr>
              <a:t>Mapping sheet and relevant columns identified</a:t>
            </a:r>
          </a:p>
        </p:txBody>
      </p:sp>
      <p:sp>
        <p:nvSpPr>
          <p:cNvPr id="59" name="Rounded Rectangle 58"/>
          <p:cNvSpPr/>
          <p:nvPr/>
        </p:nvSpPr>
        <p:spPr>
          <a:xfrm>
            <a:off x="4425696" y="3584448"/>
            <a:ext cx="1531620" cy="1490472"/>
          </a:xfrm>
          <a:prstGeom prst="roundRect">
            <a:avLst>
              <a:gd name="adj" fmla="val 6134"/>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53712" y="3721608"/>
            <a:ext cx="1275588" cy="457200"/>
          </a:xfrm>
          <a:prstGeom prst="rect">
            <a:avLst/>
          </a:prstGeom>
          <a:noFill/>
        </p:spPr>
        <p:txBody>
          <a:bodyPr wrap="square" lIns="0" rIns="0" tIns="0" bIns="0" anchor="t">
            <a:spAutoFit/>
          </a:bodyPr>
          <a:lstStyle/>
          <a:p>
            <a:pPr algn="l"/>
            <a:r>
              <a:rPr sz="1250" b="1" i="0">
                <a:solidFill>
                  <a:srgbClr val="0B1F3A"/>
                </a:solidFill>
                <a:latin typeface="IBM Plex Sans"/>
              </a:rPr>
              <a:t>Compact RAML TXT</a:t>
            </a:r>
          </a:p>
        </p:txBody>
      </p:sp>
      <p:sp>
        <p:nvSpPr>
          <p:cNvPr id="61" name="TextBox 60"/>
          <p:cNvSpPr txBox="1"/>
          <p:nvPr/>
        </p:nvSpPr>
        <p:spPr>
          <a:xfrm>
            <a:off x="4553712" y="4224528"/>
            <a:ext cx="1275588" cy="777240"/>
          </a:xfrm>
          <a:prstGeom prst="rect">
            <a:avLst/>
          </a:prstGeom>
          <a:noFill/>
        </p:spPr>
        <p:txBody>
          <a:bodyPr wrap="square" lIns="0" rIns="0" tIns="0" bIns="0" anchor="t">
            <a:spAutoFit/>
          </a:bodyPr>
          <a:lstStyle/>
          <a:p>
            <a:pPr algn="l"/>
            <a:r>
              <a:rPr sz="1050" b="0" i="0">
                <a:solidFill>
                  <a:srgbClr val="5B6C84"/>
                </a:solidFill>
                <a:latin typeface="IBM Plex Sans"/>
              </a:rPr>
              <a:t>RAML structure retained</a:t>
            </a:r>
          </a:p>
        </p:txBody>
      </p:sp>
      <p:sp>
        <p:nvSpPr>
          <p:cNvPr id="62" name="Rounded Rectangle 61"/>
          <p:cNvSpPr/>
          <p:nvPr/>
        </p:nvSpPr>
        <p:spPr>
          <a:xfrm>
            <a:off x="6231636" y="2011680"/>
            <a:ext cx="1531620" cy="3063240"/>
          </a:xfrm>
          <a:prstGeom prst="roundRect">
            <a:avLst>
              <a:gd name="adj" fmla="val 597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68796" y="2148840"/>
            <a:ext cx="1257300" cy="502920"/>
          </a:xfrm>
          <a:prstGeom prst="rect">
            <a:avLst/>
          </a:prstGeom>
          <a:noFill/>
        </p:spPr>
        <p:txBody>
          <a:bodyPr wrap="square" lIns="0" rIns="0" tIns="0" bIns="0" anchor="t">
            <a:spAutoFit/>
          </a:bodyPr>
          <a:lstStyle/>
          <a:p>
            <a:pPr algn="l"/>
            <a:r>
              <a:rPr sz="1300" b="1" i="0">
                <a:solidFill>
                  <a:srgbClr val="FFFFFF"/>
                </a:solidFill>
                <a:latin typeface="IBM Plex Sans"/>
              </a:rPr>
              <a:t>Validation Agent</a:t>
            </a:r>
          </a:p>
        </p:txBody>
      </p:sp>
      <p:sp>
        <p:nvSpPr>
          <p:cNvPr id="64" name="TextBox 63"/>
          <p:cNvSpPr txBox="1"/>
          <p:nvPr/>
        </p:nvSpPr>
        <p:spPr>
          <a:xfrm>
            <a:off x="6368796" y="2724912"/>
            <a:ext cx="1257300" cy="548640"/>
          </a:xfrm>
          <a:prstGeom prst="rect">
            <a:avLst/>
          </a:prstGeom>
          <a:noFill/>
        </p:spPr>
        <p:txBody>
          <a:bodyPr wrap="square" lIns="0" rIns="0" tIns="0" bIns="0" anchor="t">
            <a:spAutoFit/>
          </a:bodyPr>
          <a:lstStyle/>
          <a:p>
            <a:pPr algn="l"/>
            <a:r>
              <a:rPr sz="1050" b="1" i="0">
                <a:solidFill>
                  <a:srgbClr val="3CCBD3"/>
                </a:solidFill>
                <a:latin typeface="IBM Plex Sans"/>
              </a:rPr>
              <a:t>Final master prompt</a:t>
            </a:r>
          </a:p>
        </p:txBody>
      </p:sp>
      <p:sp>
        <p:nvSpPr>
          <p:cNvPr id="65" name="TextBox 64"/>
          <p:cNvSpPr txBox="1"/>
          <p:nvPr/>
        </p:nvSpPr>
        <p:spPr>
          <a:xfrm>
            <a:off x="6368796" y="3310128"/>
            <a:ext cx="1257300" cy="1691640"/>
          </a:xfrm>
          <a:prstGeom prst="rect">
            <a:avLst/>
          </a:prstGeom>
          <a:noFill/>
        </p:spPr>
        <p:txBody>
          <a:bodyPr wrap="square" lIns="0" rIns="0" tIns="0" bIns="0" anchor="t">
            <a:spAutoFit/>
          </a:bodyPr>
          <a:lstStyle/>
          <a:p>
            <a:pPr algn="l">
              <a:spcAft>
                <a:spcPts val="300"/>
              </a:spcAft>
            </a:pPr>
            <a:r>
              <a:rPr sz="1050" b="0" i="0">
                <a:solidFill>
                  <a:srgbClr val="DCEBF0"/>
                </a:solidFill>
                <a:latin typeface="IBM Plex Sans"/>
              </a:rPr>
              <a:t>Interface path</a:t>
            </a:r>
          </a:p>
          <a:p>
            <a:pPr algn="l">
              <a:spcAft>
                <a:spcPts val="300"/>
              </a:spcAft>
            </a:pPr>
            <a:r>
              <a:rPr sz="1050" b="0" i="0">
                <a:solidFill>
                  <a:srgbClr val="DCEBF0"/>
                </a:solidFill>
                <a:latin typeface="IBM Plex Sans"/>
              </a:rPr>
              <a:t>Field name / tag</a:t>
            </a:r>
          </a:p>
          <a:p>
            <a:pPr algn="l">
              <a:spcAft>
                <a:spcPts val="300"/>
              </a:spcAft>
            </a:pPr>
            <a:r>
              <a:rPr sz="1050" b="0" i="0">
                <a:solidFill>
                  <a:srgbClr val="DCEBF0"/>
                </a:solidFill>
                <a:latin typeface="IBM Plex Sans"/>
              </a:rPr>
              <a:t>Data type</a:t>
            </a:r>
          </a:p>
          <a:p>
            <a:pPr algn="l">
              <a:spcAft>
                <a:spcPts val="300"/>
              </a:spcAft>
            </a:pPr>
            <a:r>
              <a:rPr sz="1050" b="0" i="0">
                <a:solidFill>
                  <a:srgbClr val="DCEBF0"/>
                </a:solidFill>
                <a:latin typeface="IBM Plex Sans"/>
              </a:rPr>
              <a:t>Required / optional</a:t>
            </a:r>
          </a:p>
          <a:p>
            <a:pPr algn="l">
              <a:spcAft>
                <a:spcPts val="300"/>
              </a:spcAft>
            </a:pPr>
            <a:r>
              <a:rPr sz="1050" b="0" i="0">
                <a:solidFill>
                  <a:srgbClr val="DCEBF0"/>
                </a:solidFill>
                <a:latin typeface="IBM Plex Sans"/>
              </a:rPr>
              <a:t>Also: missing fields, nesting, arrays, 1-to-1 match</a:t>
            </a:r>
          </a:p>
        </p:txBody>
      </p:sp>
      <p:sp>
        <p:nvSpPr>
          <p:cNvPr id="66" name="Rounded Rectangle 65"/>
          <p:cNvSpPr/>
          <p:nvPr/>
        </p:nvSpPr>
        <p:spPr>
          <a:xfrm>
            <a:off x="8037576" y="2011680"/>
            <a:ext cx="1531620" cy="3063240"/>
          </a:xfrm>
          <a:prstGeom prst="roundRect">
            <a:avLst>
              <a:gd name="adj" fmla="val 5970"/>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174736" y="2148840"/>
            <a:ext cx="310896" cy="310896"/>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IBM Plex Sans"/>
              </a:rPr>
              <a:t>✓</a:t>
            </a:r>
          </a:p>
        </p:txBody>
      </p:sp>
      <p:sp>
        <p:nvSpPr>
          <p:cNvPr id="68" name="TextBox 67"/>
          <p:cNvSpPr txBox="1"/>
          <p:nvPr/>
        </p:nvSpPr>
        <p:spPr>
          <a:xfrm>
            <a:off x="8174736" y="2578608"/>
            <a:ext cx="1257300" cy="640080"/>
          </a:xfrm>
          <a:prstGeom prst="rect">
            <a:avLst/>
          </a:prstGeom>
          <a:noFill/>
        </p:spPr>
        <p:txBody>
          <a:bodyPr wrap="square" lIns="0" rIns="0" tIns="0" bIns="0" anchor="t">
            <a:spAutoFit/>
          </a:bodyPr>
          <a:lstStyle/>
          <a:p>
            <a:pPr algn="l"/>
            <a:r>
              <a:rPr sz="1250" b="1" i="0">
                <a:solidFill>
                  <a:srgbClr val="0B1F3A"/>
                </a:solidFill>
                <a:latin typeface="IBM Plex Sans"/>
              </a:rPr>
              <a:t>Field-by-field Validation Report</a:t>
            </a:r>
          </a:p>
        </p:txBody>
      </p:sp>
      <p:sp>
        <p:nvSpPr>
          <p:cNvPr id="69" name="TextBox 68"/>
          <p:cNvSpPr txBox="1"/>
          <p:nvPr/>
        </p:nvSpPr>
        <p:spPr>
          <a:xfrm>
            <a:off x="8174736" y="3291840"/>
            <a:ext cx="1257300" cy="1737360"/>
          </a:xfrm>
          <a:prstGeom prst="rect">
            <a:avLst/>
          </a:prstGeom>
          <a:noFill/>
        </p:spPr>
        <p:txBody>
          <a:bodyPr wrap="square" lIns="0" rIns="0" tIns="0" bIns="0" anchor="t">
            <a:spAutoFit/>
          </a:bodyPr>
          <a:lstStyle/>
          <a:p>
            <a:pPr algn="l">
              <a:spcAft>
                <a:spcPts val="400"/>
              </a:spcAft>
            </a:pPr>
            <a:r>
              <a:rPr sz="1050" b="0" i="0">
                <a:solidFill>
                  <a:srgbClr val="3F5068"/>
                </a:solidFill>
                <a:latin typeface="IBM Plex Sans"/>
              </a:rPr>
              <a:t>PASS / FAIL per field</a:t>
            </a:r>
          </a:p>
          <a:p>
            <a:pPr algn="l">
              <a:spcAft>
                <a:spcPts val="400"/>
              </a:spcAft>
            </a:pPr>
            <a:r>
              <a:rPr sz="1050" b="0" i="0">
                <a:solidFill>
                  <a:srgbClr val="3F5068"/>
                </a:solidFill>
                <a:latin typeface="IBM Plex Sans"/>
              </a:rPr>
              <a:t>Detected mismatches</a:t>
            </a:r>
          </a:p>
          <a:p>
            <a:pPr algn="l">
              <a:spcAft>
                <a:spcPts val="400"/>
              </a:spcAft>
            </a:pPr>
            <a:r>
              <a:rPr sz="1050" b="0" i="0">
                <a:solidFill>
                  <a:srgbClr val="3F5068"/>
                </a:solidFill>
                <a:latin typeface="IBM Plex Sans"/>
              </a:rPr>
              <a:t>Missing-field flags</a:t>
            </a:r>
          </a:p>
          <a:p>
            <a:pPr algn="l">
              <a:spcAft>
                <a:spcPts val="400"/>
              </a:spcAft>
            </a:pPr>
            <a:r>
              <a:rPr sz="1050" b="0" i="0">
                <a:solidFill>
                  <a:srgbClr val="3F5068"/>
                </a:solidFill>
                <a:latin typeface="IBM Plex Sans"/>
              </a:rPr>
              <a:t>Issue descriptions</a:t>
            </a:r>
          </a:p>
        </p:txBody>
      </p:sp>
      <p:sp>
        <p:nvSpPr>
          <p:cNvPr id="70" name="Rounded Rectangle 69"/>
          <p:cNvSpPr/>
          <p:nvPr/>
        </p:nvSpPr>
        <p:spPr>
          <a:xfrm>
            <a:off x="9843516" y="2011680"/>
            <a:ext cx="1531620" cy="3063240"/>
          </a:xfrm>
          <a:prstGeom prst="roundRect">
            <a:avLst>
              <a:gd name="adj" fmla="val 5970"/>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80676" y="2148840"/>
            <a:ext cx="310896" cy="3108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97480"/>
                </a:solidFill>
                <a:latin typeface="IBM Plex Sans"/>
              </a:rPr>
              <a:t>H</a:t>
            </a:r>
          </a:p>
        </p:txBody>
      </p:sp>
      <p:sp>
        <p:nvSpPr>
          <p:cNvPr id="72" name="TextBox 71"/>
          <p:cNvSpPr txBox="1"/>
          <p:nvPr/>
        </p:nvSpPr>
        <p:spPr>
          <a:xfrm>
            <a:off x="9980676" y="2578608"/>
            <a:ext cx="1257300" cy="640080"/>
          </a:xfrm>
          <a:prstGeom prst="rect">
            <a:avLst/>
          </a:prstGeom>
          <a:noFill/>
        </p:spPr>
        <p:txBody>
          <a:bodyPr wrap="square" lIns="0" rIns="0" tIns="0" bIns="0" anchor="t">
            <a:spAutoFit/>
          </a:bodyPr>
          <a:lstStyle/>
          <a:p>
            <a:pPr algn="l"/>
            <a:r>
              <a:rPr sz="1250" b="1" i="0">
                <a:solidFill>
                  <a:srgbClr val="FFFFFF"/>
                </a:solidFill>
                <a:latin typeface="IBM Plex Sans"/>
              </a:rPr>
              <a:t>Human-in-the-loop</a:t>
            </a:r>
          </a:p>
        </p:txBody>
      </p:sp>
      <p:sp>
        <p:nvSpPr>
          <p:cNvPr id="73" name="TextBox 72"/>
          <p:cNvSpPr txBox="1"/>
          <p:nvPr/>
        </p:nvSpPr>
        <p:spPr>
          <a:xfrm>
            <a:off x="9980676" y="3291840"/>
            <a:ext cx="1257300" cy="1737360"/>
          </a:xfrm>
          <a:prstGeom prst="rect">
            <a:avLst/>
          </a:prstGeom>
          <a:noFill/>
        </p:spPr>
        <p:txBody>
          <a:bodyPr wrap="square" lIns="0" rIns="0" tIns="0" bIns="0" anchor="t">
            <a:spAutoFit/>
          </a:bodyPr>
          <a:lstStyle/>
          <a:p>
            <a:pPr algn="l">
              <a:spcAft>
                <a:spcPts val="400"/>
              </a:spcAft>
            </a:pPr>
            <a:r>
              <a:rPr sz="1050" b="0" i="0">
                <a:solidFill>
                  <a:srgbClr val="FFFFFF"/>
                </a:solidFill>
                <a:latin typeface="IBM Plex Sans"/>
              </a:rPr>
              <a:t>Verifies findings</a:t>
            </a:r>
          </a:p>
          <a:p>
            <a:pPr algn="l">
              <a:spcAft>
                <a:spcPts val="400"/>
              </a:spcAft>
            </a:pPr>
            <a:r>
              <a:rPr sz="1050" b="0" i="0">
                <a:solidFill>
                  <a:srgbClr val="FFFFFF"/>
                </a:solidFill>
                <a:latin typeface="IBM Plex Sans"/>
              </a:rPr>
              <a:t>Resolves ambiguities</a:t>
            </a:r>
          </a:p>
          <a:p>
            <a:pPr algn="l">
              <a:spcAft>
                <a:spcPts val="400"/>
              </a:spcAft>
            </a:pPr>
            <a:r>
              <a:rPr sz="1050" b="0" i="0">
                <a:solidFill>
                  <a:srgbClr val="FFFFFF"/>
                </a:solidFill>
                <a:latin typeface="IBM Plex Sans"/>
              </a:rPr>
              <a:t>Confirms final report and signs off</a:t>
            </a:r>
          </a:p>
        </p:txBody>
      </p:sp>
      <p:sp>
        <p:nvSpPr>
          <p:cNvPr id="74" name="Rounded Rectangle 73"/>
          <p:cNvSpPr/>
          <p:nvPr/>
        </p:nvSpPr>
        <p:spPr>
          <a:xfrm>
            <a:off x="2619756" y="5257800"/>
            <a:ext cx="6949440" cy="365760"/>
          </a:xfrm>
          <a:prstGeom prst="roundRect">
            <a:avLst>
              <a:gd name="adj" fmla="val 50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19756" y="5257800"/>
            <a:ext cx="6949440" cy="365760"/>
          </a:xfrm>
          <a:prstGeom prst="rect">
            <a:avLst/>
          </a:prstGeom>
          <a:noFill/>
        </p:spPr>
        <p:txBody>
          <a:bodyPr wrap="square" lIns="0" rIns="0" tIns="0" bIns="0" anchor="ctr">
            <a:spAutoFit/>
          </a:bodyPr>
          <a:lstStyle/>
          <a:p>
            <a:pPr algn="ctr"/>
            <a:r>
              <a:rPr sz="1100" b="1" i="0">
                <a:solidFill>
                  <a:srgbClr val="0B1F3A"/>
                </a:solidFill>
                <a:latin typeface="IBM Plex Sans"/>
              </a:rPr>
              <a:t>AUTOMATED  ·  AI agent runs both stages  ·  ~10–20 minutes</a:t>
            </a:r>
          </a:p>
        </p:txBody>
      </p:sp>
      <p:sp>
        <p:nvSpPr>
          <p:cNvPr id="76" name="Rounded Rectangle 75"/>
          <p:cNvSpPr/>
          <p:nvPr/>
        </p:nvSpPr>
        <p:spPr>
          <a:xfrm>
            <a:off x="9843516" y="5257800"/>
            <a:ext cx="1531620" cy="365760"/>
          </a:xfrm>
          <a:prstGeom prst="roundRect">
            <a:avLst>
              <a:gd name="adj" fmla="val 5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43516" y="5257800"/>
            <a:ext cx="1531620" cy="365760"/>
          </a:xfrm>
          <a:prstGeom prst="rect">
            <a:avLst/>
          </a:prstGeom>
          <a:noFill/>
        </p:spPr>
        <p:txBody>
          <a:bodyPr wrap="square" lIns="0" rIns="0" tIns="0" bIns="0" anchor="ctr">
            <a:spAutoFit/>
          </a:bodyPr>
          <a:lstStyle/>
          <a:p>
            <a:pPr algn="ctr"/>
            <a:r>
              <a:rPr sz="1000" b="1" i="0">
                <a:solidFill>
                  <a:srgbClr val="FFFFFF"/>
                </a:solidFill>
                <a:latin typeface="IBM Plex Sans"/>
              </a:rPr>
              <a:t>VERIFIED BY HUMAN</a:t>
            </a:r>
          </a:p>
        </p:txBody>
      </p:sp>
      <p:sp>
        <p:nvSpPr>
          <p:cNvPr id="78" name="TextBox 77"/>
          <p:cNvSpPr txBox="1"/>
          <p:nvPr/>
        </p:nvSpPr>
        <p:spPr>
          <a:xfrm>
            <a:off x="813816" y="5760720"/>
            <a:ext cx="10561320" cy="228600"/>
          </a:xfrm>
          <a:prstGeom prst="rect">
            <a:avLst/>
          </a:prstGeom>
          <a:noFill/>
        </p:spPr>
        <p:txBody>
          <a:bodyPr wrap="square" lIns="0" rIns="0" tIns="0" bIns="0" anchor="t">
            <a:spAutoFit/>
          </a:bodyPr>
          <a:lstStyle/>
          <a:p>
            <a:pPr algn="ctr"/>
            <a:r>
              <a:rPr sz="1050" b="0" i="0">
                <a:solidFill>
                  <a:srgbClr val="5B6C84"/>
                </a:solidFill>
                <a:latin typeface="IBM Plex Sans"/>
              </a:rPr>
              <a:t>Two-stage design  ·  Deterministic rules  ·  Source content preserved  ·  Human oversight  ·  Reusable for other mapping documents and RAML specs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04 · STAGE 1 · RAML CONVERSION</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From static RAML to compact key-value format</a:t>
            </a:r>
            <a:endParaRPr lang="en-US" sz="3000" dirty="0"/>
          </a:p>
        </p:txBody>
      </p:sp>
      <p:sp>
        <p:nvSpPr>
          <p:cNvPr id="50" name="Text 43"/>
          <p:cNvSpPr/>
          <p:nvPr/>
        </p:nvSpPr>
        <p:spPr>
          <a:xfrm>
            <a:off x="812800" y="6238249"/>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51" name="Text 44"/>
          <p:cNvSpPr/>
          <p:nvPr/>
        </p:nvSpPr>
        <p:spPr>
          <a:xfrm>
            <a:off x="9804400" y="6238249"/>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5 / 7</a:t>
            </a:r>
            <a:endParaRPr lang="en-US" sz="1200" dirty="0"/>
          </a:p>
        </p:txBody>
      </p:sp>
      <p:sp>
        <p:nvSpPr>
          <p:cNvPr id="52" name="Rounded Rectangle 51"/>
          <p:cNvSpPr/>
          <p:nvPr/>
        </p:nvSpPr>
        <p:spPr>
          <a:xfrm>
            <a:off x="813816" y="1783080"/>
            <a:ext cx="4754880" cy="1097280"/>
          </a:xfrm>
          <a:prstGeom prst="roundRect">
            <a:avLst>
              <a:gd name="adj" fmla="val 833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78408" y="1947672"/>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1</a:t>
            </a:r>
          </a:p>
        </p:txBody>
      </p:sp>
      <p:sp>
        <p:nvSpPr>
          <p:cNvPr id="54" name="TextBox 53"/>
          <p:cNvSpPr txBox="1"/>
          <p:nvPr/>
        </p:nvSpPr>
        <p:spPr>
          <a:xfrm>
            <a:off x="1499616" y="1929384"/>
            <a:ext cx="3886200" cy="237744"/>
          </a:xfrm>
          <a:prstGeom prst="rect">
            <a:avLst/>
          </a:prstGeom>
          <a:noFill/>
        </p:spPr>
        <p:txBody>
          <a:bodyPr wrap="square" lIns="0" rIns="0" tIns="0" bIns="0" anchor="t">
            <a:spAutoFit/>
          </a:bodyPr>
          <a:lstStyle/>
          <a:p>
            <a:pPr algn="l"/>
            <a:r>
              <a:rPr sz="1300" b="1" i="0">
                <a:solidFill>
                  <a:srgbClr val="0B1F3A"/>
                </a:solidFill>
                <a:latin typeface="IBM Plex Sans"/>
              </a:rPr>
              <a:t>Input: static document RAML file</a:t>
            </a:r>
          </a:p>
        </p:txBody>
      </p:sp>
      <p:sp>
        <p:nvSpPr>
          <p:cNvPr id="55" name="TextBox 54"/>
          <p:cNvSpPr txBox="1"/>
          <p:nvPr/>
        </p:nvSpPr>
        <p:spPr>
          <a:xfrm>
            <a:off x="1499616" y="2240280"/>
            <a:ext cx="3886200" cy="594360"/>
          </a:xfrm>
          <a:prstGeom prst="rect">
            <a:avLst/>
          </a:prstGeom>
          <a:noFill/>
        </p:spPr>
        <p:txBody>
          <a:bodyPr wrap="square" lIns="0" rIns="0" tIns="0" bIns="0" anchor="t">
            <a:spAutoFit/>
          </a:bodyPr>
          <a:lstStyle/>
          <a:p>
            <a:pPr algn="l"/>
            <a:r>
              <a:rPr sz="1100" b="0" i="0">
                <a:solidFill>
                  <a:srgbClr val="3F5068"/>
                </a:solidFill>
                <a:latin typeface="IBM Plex Sans"/>
              </a:rPr>
              <a:t>Static, nested YAML with description, type and required for every property.</a:t>
            </a:r>
          </a:p>
        </p:txBody>
      </p:sp>
      <p:sp>
        <p:nvSpPr>
          <p:cNvPr id="56" name="Rounded Rectangle 55"/>
          <p:cNvSpPr/>
          <p:nvPr/>
        </p:nvSpPr>
        <p:spPr>
          <a:xfrm>
            <a:off x="813816" y="2990087"/>
            <a:ext cx="4754880" cy="1097280"/>
          </a:xfrm>
          <a:prstGeom prst="roundRect">
            <a:avLst>
              <a:gd name="adj" fmla="val 833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78408" y="3154679"/>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2</a:t>
            </a:r>
          </a:p>
        </p:txBody>
      </p:sp>
      <p:sp>
        <p:nvSpPr>
          <p:cNvPr id="58" name="TextBox 57"/>
          <p:cNvSpPr txBox="1"/>
          <p:nvPr/>
        </p:nvSpPr>
        <p:spPr>
          <a:xfrm>
            <a:off x="1499616" y="3136391"/>
            <a:ext cx="3886200" cy="237744"/>
          </a:xfrm>
          <a:prstGeom prst="rect">
            <a:avLst/>
          </a:prstGeom>
          <a:noFill/>
        </p:spPr>
        <p:txBody>
          <a:bodyPr wrap="square" lIns="0" rIns="0" tIns="0" bIns="0" anchor="t">
            <a:spAutoFit/>
          </a:bodyPr>
          <a:lstStyle/>
          <a:p>
            <a:pPr algn="l"/>
            <a:r>
              <a:rPr sz="1300" b="1" i="0">
                <a:solidFill>
                  <a:srgbClr val="0B1F3A"/>
                </a:solidFill>
                <a:latin typeface="IBM Plex Sans"/>
              </a:rPr>
              <a:t>Conversion prompt + one-shot example</a:t>
            </a:r>
          </a:p>
        </p:txBody>
      </p:sp>
      <p:sp>
        <p:nvSpPr>
          <p:cNvPr id="59" name="TextBox 58"/>
          <p:cNvSpPr txBox="1"/>
          <p:nvPr/>
        </p:nvSpPr>
        <p:spPr>
          <a:xfrm>
            <a:off x="1499616" y="3447287"/>
            <a:ext cx="3886200" cy="594360"/>
          </a:xfrm>
          <a:prstGeom prst="rect">
            <a:avLst/>
          </a:prstGeom>
          <a:noFill/>
        </p:spPr>
        <p:txBody>
          <a:bodyPr wrap="square" lIns="0" rIns="0" tIns="0" bIns="0" anchor="t">
            <a:spAutoFit/>
          </a:bodyPr>
          <a:lstStyle/>
          <a:p>
            <a:pPr algn="l"/>
            <a:r>
              <a:rPr sz="1100" b="0" i="0">
                <a:solidFill>
                  <a:srgbClr val="3F5068"/>
                </a:solidFill>
                <a:latin typeface="IBM Plex Sans"/>
              </a:rPr>
              <a:t>The prompt defines the target format and shows one worked object, so the model repeats the pattern for the whole spec.</a:t>
            </a:r>
          </a:p>
        </p:txBody>
      </p:sp>
      <p:sp>
        <p:nvSpPr>
          <p:cNvPr id="60" name="Rounded Rectangle 59"/>
          <p:cNvSpPr/>
          <p:nvPr/>
        </p:nvSpPr>
        <p:spPr>
          <a:xfrm>
            <a:off x="813816" y="4197096"/>
            <a:ext cx="4754880" cy="1097280"/>
          </a:xfrm>
          <a:prstGeom prst="roundRect">
            <a:avLst>
              <a:gd name="adj" fmla="val 8333"/>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78408" y="4361688"/>
            <a:ext cx="365760" cy="365760"/>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IBM Plex Sans"/>
              </a:rPr>
              <a:t>3</a:t>
            </a:r>
          </a:p>
        </p:txBody>
      </p:sp>
      <p:sp>
        <p:nvSpPr>
          <p:cNvPr id="62" name="TextBox 61"/>
          <p:cNvSpPr txBox="1"/>
          <p:nvPr/>
        </p:nvSpPr>
        <p:spPr>
          <a:xfrm>
            <a:off x="1499616" y="4343400"/>
            <a:ext cx="3886200" cy="237744"/>
          </a:xfrm>
          <a:prstGeom prst="rect">
            <a:avLst/>
          </a:prstGeom>
          <a:noFill/>
        </p:spPr>
        <p:txBody>
          <a:bodyPr wrap="square" lIns="0" rIns="0" tIns="0" bIns="0" anchor="t">
            <a:spAutoFit/>
          </a:bodyPr>
          <a:lstStyle/>
          <a:p>
            <a:pPr algn="l"/>
            <a:r>
              <a:rPr sz="1300" b="1" i="0">
                <a:solidFill>
                  <a:srgbClr val="0B1F3A"/>
                </a:solidFill>
                <a:latin typeface="IBM Plex Sans"/>
              </a:rPr>
              <a:t>Output: compact key-value TXT</a:t>
            </a:r>
          </a:p>
        </p:txBody>
      </p:sp>
      <p:sp>
        <p:nvSpPr>
          <p:cNvPr id="63" name="TextBox 62"/>
          <p:cNvSpPr txBox="1"/>
          <p:nvPr/>
        </p:nvSpPr>
        <p:spPr>
          <a:xfrm>
            <a:off x="1499616" y="4654296"/>
            <a:ext cx="3886200" cy="594360"/>
          </a:xfrm>
          <a:prstGeom prst="rect">
            <a:avLst/>
          </a:prstGeom>
          <a:noFill/>
        </p:spPr>
        <p:txBody>
          <a:bodyPr wrap="square" lIns="0" rIns="0" tIns="0" bIns="0" anchor="t">
            <a:spAutoFit/>
          </a:bodyPr>
          <a:lstStyle/>
          <a:p>
            <a:pPr algn="l"/>
            <a:r>
              <a:rPr sz="1100" b="0" i="0">
                <a:solidFill>
                  <a:srgbClr val="3F5068"/>
                </a:solidFill>
                <a:latin typeface="IBM Plex Sans"/>
              </a:rPr>
              <a:t>One line per field with its type; hierarchy and arrays are preserved.</a:t>
            </a:r>
          </a:p>
        </p:txBody>
      </p:sp>
      <p:sp>
        <p:nvSpPr>
          <p:cNvPr id="64" name="Rounded Rectangle 63"/>
          <p:cNvSpPr/>
          <p:nvPr/>
        </p:nvSpPr>
        <p:spPr>
          <a:xfrm>
            <a:off x="813816" y="5422391"/>
            <a:ext cx="4754880" cy="457200"/>
          </a:xfrm>
          <a:prstGeom prst="roundRect">
            <a:avLst>
              <a:gd name="adj" fmla="val 2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8408" y="5422391"/>
            <a:ext cx="4425696" cy="457200"/>
          </a:xfrm>
          <a:prstGeom prst="rect">
            <a:avLst/>
          </a:prstGeom>
          <a:noFill/>
        </p:spPr>
        <p:txBody>
          <a:bodyPr wrap="square" lIns="0" rIns="0" tIns="0" bIns="0" anchor="ctr">
            <a:spAutoFit/>
          </a:bodyPr>
          <a:lstStyle/>
          <a:p>
            <a:pPr algn="l"/>
            <a:r>
              <a:rPr sz="1050" b="1" i="0">
                <a:solidFill>
                  <a:srgbClr val="3CCBD3"/>
                </a:solidFill>
                <a:latin typeface="IBM Plex Sans"/>
              </a:rPr>
              <a:t>Format:  </a:t>
            </a:r>
            <a:r>
              <a:rPr sz="1050" b="0" i="0">
                <a:solidFill>
                  <a:srgbClr val="FFFFFF"/>
                </a:solidFill>
                <a:latin typeface="Courier New"/>
              </a:rPr>
              <a:t>"name(description,required)": "type"</a:t>
            </a:r>
          </a:p>
        </p:txBody>
      </p:sp>
      <p:sp>
        <p:nvSpPr>
          <p:cNvPr id="66" name="Rounded Rectangle 65"/>
          <p:cNvSpPr/>
          <p:nvPr/>
        </p:nvSpPr>
        <p:spPr>
          <a:xfrm>
            <a:off x="5806440" y="1783080"/>
            <a:ext cx="5568696" cy="4251960"/>
          </a:xfrm>
          <a:prstGeom prst="roundRect">
            <a:avLst>
              <a:gd name="adj" fmla="val 2580"/>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07607" y="1901952"/>
            <a:ext cx="5166359" cy="201168"/>
          </a:xfrm>
          <a:prstGeom prst="rect">
            <a:avLst/>
          </a:prstGeom>
          <a:noFill/>
        </p:spPr>
        <p:txBody>
          <a:bodyPr wrap="square" lIns="0" rIns="0" tIns="0" bIns="0" anchor="t">
            <a:spAutoFit/>
          </a:bodyPr>
          <a:lstStyle/>
          <a:p>
            <a:pPr algn="l"/>
            <a:r>
              <a:rPr sz="950" b="1" i="0">
                <a:solidFill>
                  <a:srgbClr val="097480"/>
                </a:solidFill>
                <a:latin typeface="IBM Plex Sans"/>
              </a:rPr>
              <a:t>SCREENSHOT · CONVERSION PROMPT WITH ONE-SHOT EXAMPLE</a:t>
            </a:r>
          </a:p>
        </p:txBody>
      </p:sp>
      <p:sp>
        <p:nvSpPr>
          <p:cNvPr id="68" name="Rounded Rectangle 67"/>
          <p:cNvSpPr/>
          <p:nvPr/>
        </p:nvSpPr>
        <p:spPr>
          <a:xfrm>
            <a:off x="5971031" y="2157984"/>
            <a:ext cx="3698977" cy="3685032"/>
          </a:xfrm>
          <a:prstGeom prst="roundRect">
            <a:avLst>
              <a:gd name="adj" fmla="val 1488"/>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crop_full.png"/>
          <p:cNvPicPr>
            <a:picLocks noChangeAspect="1"/>
          </p:cNvPicPr>
          <p:nvPr/>
        </p:nvPicPr>
        <p:blipFill>
          <a:blip r:embed="rId3"/>
          <a:stretch>
            <a:fillRect/>
          </a:stretch>
        </p:blipFill>
        <p:spPr>
          <a:xfrm>
            <a:off x="6007607" y="2194560"/>
            <a:ext cx="3625825" cy="3611880"/>
          </a:xfrm>
          <a:prstGeom prst="rect">
            <a:avLst/>
          </a:prstGeom>
        </p:spPr>
      </p:pic>
      <p:sp>
        <p:nvSpPr>
          <p:cNvPr id="70" name="Rounded Rectangle 69"/>
          <p:cNvSpPr/>
          <p:nvPr/>
        </p:nvSpPr>
        <p:spPr>
          <a:xfrm>
            <a:off x="9816313" y="3133648"/>
            <a:ext cx="1394230" cy="274320"/>
          </a:xfrm>
          <a:prstGeom prst="roundRect">
            <a:avLst>
              <a:gd name="adj" fmla="val 50000"/>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16313" y="3133648"/>
            <a:ext cx="1394230" cy="274320"/>
          </a:xfrm>
          <a:prstGeom prst="rect">
            <a:avLst/>
          </a:prstGeom>
          <a:noFill/>
        </p:spPr>
        <p:txBody>
          <a:bodyPr wrap="square" lIns="0" rIns="0" tIns="0" bIns="0" anchor="ctr">
            <a:spAutoFit/>
          </a:bodyPr>
          <a:lstStyle/>
          <a:p>
            <a:pPr algn="ctr"/>
            <a:r>
              <a:rPr sz="1000" b="1" i="0">
                <a:solidFill>
                  <a:srgbClr val="3F5068"/>
                </a:solidFill>
                <a:latin typeface="IBM Plex Sans"/>
              </a:rPr>
              <a:t>BEFORE</a:t>
            </a:r>
          </a:p>
        </p:txBody>
      </p:sp>
      <p:sp>
        <p:nvSpPr>
          <p:cNvPr id="72" name="TextBox 71"/>
          <p:cNvSpPr txBox="1"/>
          <p:nvPr/>
        </p:nvSpPr>
        <p:spPr>
          <a:xfrm>
            <a:off x="9816313" y="3462832"/>
            <a:ext cx="1394230" cy="640080"/>
          </a:xfrm>
          <a:prstGeom prst="rect">
            <a:avLst/>
          </a:prstGeom>
          <a:noFill/>
        </p:spPr>
        <p:txBody>
          <a:bodyPr wrap="square" lIns="0" rIns="0" tIns="0" bIns="0" anchor="t">
            <a:spAutoFit/>
          </a:bodyPr>
          <a:lstStyle/>
          <a:p>
            <a:pPr algn="l"/>
            <a:r>
              <a:rPr sz="1050" b="0" i="0">
                <a:solidFill>
                  <a:srgbClr val="3F5068"/>
                </a:solidFill>
                <a:latin typeface="IBM Plex Sans"/>
              </a:rPr>
              <a:t>Static document RAML file</a:t>
            </a:r>
          </a:p>
        </p:txBody>
      </p:sp>
      <p:sp>
        <p:nvSpPr>
          <p:cNvPr id="73" name="Down Arrow 72"/>
          <p:cNvSpPr/>
          <p:nvPr/>
        </p:nvSpPr>
        <p:spPr>
          <a:xfrm>
            <a:off x="10421988" y="4093768"/>
            <a:ext cx="182880" cy="274320"/>
          </a:xfrm>
          <a:prstGeom prst="down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816313" y="4722876"/>
            <a:ext cx="1394230" cy="274320"/>
          </a:xfrm>
          <a:prstGeom prst="roundRect">
            <a:avLst>
              <a:gd name="adj" fmla="val 50000"/>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816313" y="4722876"/>
            <a:ext cx="1394230" cy="274320"/>
          </a:xfrm>
          <a:prstGeom prst="rect">
            <a:avLst/>
          </a:prstGeom>
          <a:noFill/>
        </p:spPr>
        <p:txBody>
          <a:bodyPr wrap="square" lIns="0" rIns="0" tIns="0" bIns="0" anchor="ctr">
            <a:spAutoFit/>
          </a:bodyPr>
          <a:lstStyle/>
          <a:p>
            <a:pPr algn="ctr"/>
            <a:r>
              <a:rPr sz="1000" b="1" i="0">
                <a:solidFill>
                  <a:srgbClr val="FFFFFF"/>
                </a:solidFill>
                <a:latin typeface="IBM Plex Sans"/>
              </a:rPr>
              <a:t>AFTER</a:t>
            </a:r>
          </a:p>
        </p:txBody>
      </p:sp>
      <p:sp>
        <p:nvSpPr>
          <p:cNvPr id="76" name="TextBox 75"/>
          <p:cNvSpPr txBox="1"/>
          <p:nvPr/>
        </p:nvSpPr>
        <p:spPr>
          <a:xfrm>
            <a:off x="9816313" y="5052060"/>
            <a:ext cx="1394230" cy="640080"/>
          </a:xfrm>
          <a:prstGeom prst="rect">
            <a:avLst/>
          </a:prstGeom>
          <a:noFill/>
        </p:spPr>
        <p:txBody>
          <a:bodyPr wrap="square" lIns="0" rIns="0" tIns="0" bIns="0" anchor="t">
            <a:spAutoFit/>
          </a:bodyPr>
          <a:lstStyle/>
          <a:p>
            <a:pPr algn="l"/>
            <a:r>
              <a:rPr sz="1050" b="0" i="0">
                <a:solidFill>
                  <a:srgbClr val="3F5068"/>
                </a:solidFill>
                <a:latin typeface="IBM Plex Sans"/>
              </a:rPr>
              <a:t>Compact key-value format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05 · STAGE 2 · VALIDATION AGENT</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Validation agent, conditions and report</a:t>
            </a:r>
            <a:endParaRPr lang="en-US" sz="3000" dirty="0"/>
          </a:p>
        </p:txBody>
      </p:sp>
      <p:sp>
        <p:nvSpPr>
          <p:cNvPr id="37" name="Text 33"/>
          <p:cNvSpPr/>
          <p:nvPr/>
        </p:nvSpPr>
        <p:spPr>
          <a:xfrm>
            <a:off x="812800" y="6238249"/>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38" name="Text 34"/>
          <p:cNvSpPr/>
          <p:nvPr/>
        </p:nvSpPr>
        <p:spPr>
          <a:xfrm>
            <a:off x="9804400" y="6238249"/>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6 / 7</a:t>
            </a:r>
            <a:endParaRPr lang="en-US" sz="1200" dirty="0"/>
          </a:p>
        </p:txBody>
      </p:sp>
      <p:sp>
        <p:nvSpPr>
          <p:cNvPr id="39" name="Rounded Rectangle 38"/>
          <p:cNvSpPr/>
          <p:nvPr/>
        </p:nvSpPr>
        <p:spPr>
          <a:xfrm>
            <a:off x="813816" y="1737360"/>
            <a:ext cx="2103120" cy="713232"/>
          </a:xfrm>
          <a:prstGeom prst="roundRect">
            <a:avLst>
              <a:gd name="adj" fmla="val 12820"/>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1737360"/>
            <a:ext cx="1828800" cy="713232"/>
          </a:xfrm>
          <a:prstGeom prst="rect">
            <a:avLst/>
          </a:prstGeom>
          <a:noFill/>
        </p:spPr>
        <p:txBody>
          <a:bodyPr wrap="square" lIns="0" rIns="0" tIns="0" bIns="0" anchor="ctr">
            <a:spAutoFit/>
          </a:bodyPr>
          <a:lstStyle/>
          <a:p>
            <a:pPr algn="l"/>
            <a:r>
              <a:rPr sz="1200" b="1" i="0">
                <a:solidFill>
                  <a:srgbClr val="0B1F3A"/>
                </a:solidFill>
                <a:latin typeface="IBM Plex Sans"/>
              </a:rPr>
              <a:t>MQS Mapping Excel</a:t>
            </a:r>
          </a:p>
        </p:txBody>
      </p:sp>
      <p:sp>
        <p:nvSpPr>
          <p:cNvPr id="41" name="TextBox 40"/>
          <p:cNvSpPr txBox="1"/>
          <p:nvPr/>
        </p:nvSpPr>
        <p:spPr>
          <a:xfrm>
            <a:off x="3017520" y="1929384"/>
            <a:ext cx="274320" cy="329184"/>
          </a:xfrm>
          <a:prstGeom prst="rect">
            <a:avLst/>
          </a:prstGeom>
          <a:noFill/>
        </p:spPr>
        <p:txBody>
          <a:bodyPr wrap="square" lIns="0" rIns="0" tIns="0" bIns="0" anchor="ctr">
            <a:spAutoFit/>
          </a:bodyPr>
          <a:lstStyle/>
          <a:p>
            <a:pPr algn="ctr"/>
            <a:r>
              <a:rPr sz="1800" b="1" i="0">
                <a:solidFill>
                  <a:srgbClr val="097480"/>
                </a:solidFill>
                <a:latin typeface="IBM Plex Sans"/>
              </a:rPr>
              <a:t>+</a:t>
            </a:r>
          </a:p>
        </p:txBody>
      </p:sp>
      <p:sp>
        <p:nvSpPr>
          <p:cNvPr id="42" name="Rounded Rectangle 41"/>
          <p:cNvSpPr/>
          <p:nvPr/>
        </p:nvSpPr>
        <p:spPr>
          <a:xfrm>
            <a:off x="3383280" y="1737360"/>
            <a:ext cx="2103120" cy="713232"/>
          </a:xfrm>
          <a:prstGeom prst="roundRect">
            <a:avLst>
              <a:gd name="adj" fmla="val 12820"/>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29584" y="1737360"/>
            <a:ext cx="1828800" cy="713232"/>
          </a:xfrm>
          <a:prstGeom prst="rect">
            <a:avLst/>
          </a:prstGeom>
          <a:noFill/>
        </p:spPr>
        <p:txBody>
          <a:bodyPr wrap="square" lIns="0" rIns="0" tIns="0" bIns="0" anchor="ctr">
            <a:spAutoFit/>
          </a:bodyPr>
          <a:lstStyle/>
          <a:p>
            <a:pPr algn="l"/>
            <a:r>
              <a:rPr sz="1200" b="1" i="0">
                <a:solidFill>
                  <a:srgbClr val="0B1F3A"/>
                </a:solidFill>
                <a:latin typeface="IBM Plex Sans"/>
              </a:rPr>
              <a:t>Compact RAML TXT</a:t>
            </a:r>
          </a:p>
        </p:txBody>
      </p:sp>
      <p:sp>
        <p:nvSpPr>
          <p:cNvPr id="44" name="Right Arrow 43"/>
          <p:cNvSpPr/>
          <p:nvPr/>
        </p:nvSpPr>
        <p:spPr>
          <a:xfrm>
            <a:off x="5577840" y="2002536"/>
            <a:ext cx="256032"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943600" y="1737360"/>
            <a:ext cx="3063240" cy="713232"/>
          </a:xfrm>
          <a:prstGeom prst="roundRect">
            <a:avLst>
              <a:gd name="adj" fmla="val 1282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08192" y="1828800"/>
            <a:ext cx="2743200" cy="274320"/>
          </a:xfrm>
          <a:prstGeom prst="rect">
            <a:avLst/>
          </a:prstGeom>
          <a:noFill/>
        </p:spPr>
        <p:txBody>
          <a:bodyPr wrap="square" lIns="0" rIns="0" tIns="0" bIns="0" anchor="t">
            <a:spAutoFit/>
          </a:bodyPr>
          <a:lstStyle/>
          <a:p>
            <a:pPr algn="l"/>
            <a:r>
              <a:rPr sz="1300" b="1" i="0">
                <a:solidFill>
                  <a:srgbClr val="FFFFFF"/>
                </a:solidFill>
                <a:latin typeface="IBM Plex Sans"/>
              </a:rPr>
              <a:t>Validation Agent</a:t>
            </a:r>
          </a:p>
        </p:txBody>
      </p:sp>
      <p:sp>
        <p:nvSpPr>
          <p:cNvPr id="47" name="TextBox 46"/>
          <p:cNvSpPr txBox="1"/>
          <p:nvPr/>
        </p:nvSpPr>
        <p:spPr>
          <a:xfrm>
            <a:off x="6108192" y="2121408"/>
            <a:ext cx="2743200" cy="274320"/>
          </a:xfrm>
          <a:prstGeom prst="rect">
            <a:avLst/>
          </a:prstGeom>
          <a:noFill/>
        </p:spPr>
        <p:txBody>
          <a:bodyPr wrap="square" lIns="0" rIns="0" tIns="0" bIns="0" anchor="t">
            <a:spAutoFit/>
          </a:bodyPr>
          <a:lstStyle/>
          <a:p>
            <a:pPr algn="l"/>
            <a:r>
              <a:rPr sz="1050" b="1" i="0">
                <a:solidFill>
                  <a:srgbClr val="3CCBD3"/>
                </a:solidFill>
                <a:latin typeface="IBM Plex Sans"/>
              </a:rPr>
              <a:t>Final master prompt + conditions</a:t>
            </a:r>
          </a:p>
        </p:txBody>
      </p:sp>
      <p:sp>
        <p:nvSpPr>
          <p:cNvPr id="48" name="Right Arrow 47"/>
          <p:cNvSpPr/>
          <p:nvPr/>
        </p:nvSpPr>
        <p:spPr>
          <a:xfrm>
            <a:off x="9098280" y="2002536"/>
            <a:ext cx="256032"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464040" y="1737360"/>
            <a:ext cx="1911095" cy="713232"/>
          </a:xfrm>
          <a:prstGeom prst="roundRect">
            <a:avLst>
              <a:gd name="adj" fmla="val 12820"/>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0" y="1737360"/>
            <a:ext cx="1691640" cy="713232"/>
          </a:xfrm>
          <a:prstGeom prst="rect">
            <a:avLst/>
          </a:prstGeom>
          <a:noFill/>
        </p:spPr>
        <p:txBody>
          <a:bodyPr wrap="square" lIns="0" rIns="0" tIns="0" bIns="0" anchor="ctr">
            <a:spAutoFit/>
          </a:bodyPr>
          <a:lstStyle/>
          <a:p>
            <a:pPr algn="l"/>
            <a:r>
              <a:rPr sz="1200" b="1" i="0">
                <a:solidFill>
                  <a:srgbClr val="FFFFFF"/>
                </a:solidFill>
                <a:latin typeface="IBM Plex Sans"/>
              </a:rPr>
              <a:t>Field-by-field report</a:t>
            </a:r>
          </a:p>
        </p:txBody>
      </p:sp>
      <p:sp>
        <p:nvSpPr>
          <p:cNvPr id="51" name="TextBox 50"/>
          <p:cNvSpPr txBox="1"/>
          <p:nvPr/>
        </p:nvSpPr>
        <p:spPr>
          <a:xfrm>
            <a:off x="813816" y="2697480"/>
            <a:ext cx="6492240" cy="201168"/>
          </a:xfrm>
          <a:prstGeom prst="rect">
            <a:avLst/>
          </a:prstGeom>
          <a:noFill/>
        </p:spPr>
        <p:txBody>
          <a:bodyPr wrap="square" lIns="0" rIns="0" tIns="0" bIns="0" anchor="t">
            <a:spAutoFit/>
          </a:bodyPr>
          <a:lstStyle/>
          <a:p>
            <a:pPr algn="l"/>
            <a:r>
              <a:rPr sz="950" b="1" i="0">
                <a:solidFill>
                  <a:srgbClr val="097480"/>
                </a:solidFill>
                <a:latin typeface="IBM Plex Sans"/>
              </a:rPr>
              <a:t>VALIDATION CONDITIONS</a:t>
            </a:r>
          </a:p>
        </p:txBody>
      </p:sp>
      <p:sp>
        <p:nvSpPr>
          <p:cNvPr id="52" name="Rounded Rectangle 51"/>
          <p:cNvSpPr/>
          <p:nvPr/>
        </p:nvSpPr>
        <p:spPr>
          <a:xfrm>
            <a:off x="813816" y="2971800"/>
            <a:ext cx="6492240" cy="2889504"/>
          </a:xfrm>
          <a:prstGeom prst="roundRect">
            <a:avLst>
              <a:gd name="adj" fmla="val 2531"/>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41248" y="2990088"/>
            <a:ext cx="6437376" cy="47548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8408" y="2990088"/>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Interface path</a:t>
            </a:r>
          </a:p>
        </p:txBody>
      </p:sp>
      <p:sp>
        <p:nvSpPr>
          <p:cNvPr id="55" name="TextBox 54"/>
          <p:cNvSpPr txBox="1"/>
          <p:nvPr/>
        </p:nvSpPr>
        <p:spPr>
          <a:xfrm>
            <a:off x="2642616" y="2990088"/>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Mapping path vs RAML hierarchy, incl. array notation</a:t>
            </a:r>
          </a:p>
        </p:txBody>
      </p:sp>
      <p:sp>
        <p:nvSpPr>
          <p:cNvPr id="56" name="TextBox 55"/>
          <p:cNvSpPr txBox="1"/>
          <p:nvPr/>
        </p:nvSpPr>
        <p:spPr>
          <a:xfrm>
            <a:off x="978408" y="3465576"/>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Field name</a:t>
            </a:r>
          </a:p>
        </p:txBody>
      </p:sp>
      <p:sp>
        <p:nvSpPr>
          <p:cNvPr id="57" name="TextBox 56"/>
          <p:cNvSpPr txBox="1"/>
          <p:nvPr/>
        </p:nvSpPr>
        <p:spPr>
          <a:xfrm>
            <a:off x="2642616" y="3465576"/>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Exact, case-sensitive match with RAML description / tag</a:t>
            </a:r>
          </a:p>
        </p:txBody>
      </p:sp>
      <p:sp>
        <p:nvSpPr>
          <p:cNvPr id="58" name="Rectangle 57"/>
          <p:cNvSpPr/>
          <p:nvPr/>
        </p:nvSpPr>
        <p:spPr>
          <a:xfrm>
            <a:off x="841248" y="3941064"/>
            <a:ext cx="6437376" cy="47548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8408" y="3941064"/>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Data type</a:t>
            </a:r>
          </a:p>
        </p:txBody>
      </p:sp>
      <p:sp>
        <p:nvSpPr>
          <p:cNvPr id="60" name="TextBox 59"/>
          <p:cNvSpPr txBox="1"/>
          <p:nvPr/>
        </p:nvSpPr>
        <p:spPr>
          <a:xfrm>
            <a:off x="2642616" y="3941064"/>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Approved normalizations only: date-only → date, time-only → time, int → integer</a:t>
            </a:r>
          </a:p>
        </p:txBody>
      </p:sp>
      <p:sp>
        <p:nvSpPr>
          <p:cNvPr id="61" name="TextBox 60"/>
          <p:cNvSpPr txBox="1"/>
          <p:nvPr/>
        </p:nvSpPr>
        <p:spPr>
          <a:xfrm>
            <a:off x="978408" y="4416552"/>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Mandatory / Optional</a:t>
            </a:r>
          </a:p>
        </p:txBody>
      </p:sp>
      <p:sp>
        <p:nvSpPr>
          <p:cNvPr id="62" name="TextBox 61"/>
          <p:cNvSpPr txBox="1"/>
          <p:nvPr/>
        </p:nvSpPr>
        <p:spPr>
          <a:xfrm>
            <a:off x="2642616" y="4416552"/>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Compared with the Orchestrator column (not Pre-Comp)</a:t>
            </a:r>
          </a:p>
        </p:txBody>
      </p:sp>
      <p:sp>
        <p:nvSpPr>
          <p:cNvPr id="63" name="Rectangle 62"/>
          <p:cNvSpPr/>
          <p:nvPr/>
        </p:nvSpPr>
        <p:spPr>
          <a:xfrm>
            <a:off x="841248" y="4892040"/>
            <a:ext cx="6437376" cy="475488"/>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8408" y="4892040"/>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Missing fields</a:t>
            </a:r>
          </a:p>
        </p:txBody>
      </p:sp>
      <p:sp>
        <p:nvSpPr>
          <p:cNvPr id="65" name="TextBox 64"/>
          <p:cNvSpPr txBox="1"/>
          <p:nvPr/>
        </p:nvSpPr>
        <p:spPr>
          <a:xfrm>
            <a:off x="2642616" y="4892040"/>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Present in one source but absent in the other → flagged</a:t>
            </a:r>
          </a:p>
        </p:txBody>
      </p:sp>
      <p:sp>
        <p:nvSpPr>
          <p:cNvPr id="66" name="TextBox 65"/>
          <p:cNvSpPr txBox="1"/>
          <p:nvPr/>
        </p:nvSpPr>
        <p:spPr>
          <a:xfrm>
            <a:off x="978408" y="5367528"/>
            <a:ext cx="1600200" cy="475488"/>
          </a:xfrm>
          <a:prstGeom prst="rect">
            <a:avLst/>
          </a:prstGeom>
          <a:noFill/>
        </p:spPr>
        <p:txBody>
          <a:bodyPr wrap="square" lIns="0" rIns="0" tIns="0" bIns="0" anchor="ctr">
            <a:spAutoFit/>
          </a:bodyPr>
          <a:lstStyle/>
          <a:p>
            <a:pPr algn="l"/>
            <a:r>
              <a:rPr sz="1150" b="1" i="0">
                <a:solidFill>
                  <a:srgbClr val="0B1F3A"/>
                </a:solidFill>
                <a:latin typeface="IBM Plex Sans"/>
              </a:rPr>
              <a:t>Nested &amp; arrays</a:t>
            </a:r>
          </a:p>
        </p:txBody>
      </p:sp>
      <p:sp>
        <p:nvSpPr>
          <p:cNvPr id="67" name="TextBox 66"/>
          <p:cNvSpPr txBox="1"/>
          <p:nvPr/>
        </p:nvSpPr>
        <p:spPr>
          <a:xfrm>
            <a:off x="2642616" y="5367528"/>
            <a:ext cx="4526279" cy="475488"/>
          </a:xfrm>
          <a:prstGeom prst="rect">
            <a:avLst/>
          </a:prstGeom>
          <a:noFill/>
        </p:spPr>
        <p:txBody>
          <a:bodyPr wrap="square" lIns="0" rIns="0" tIns="0" bIns="0" anchor="ctr">
            <a:spAutoFit/>
          </a:bodyPr>
          <a:lstStyle/>
          <a:p>
            <a:pPr algn="l"/>
            <a:r>
              <a:rPr sz="1050" b="0" i="0">
                <a:solidFill>
                  <a:srgbClr val="3F5068"/>
                </a:solidFill>
                <a:latin typeface="IBM Plex Sans"/>
              </a:rPr>
              <a:t>Objects, arrays and child fields validated one-to-one</a:t>
            </a:r>
          </a:p>
        </p:txBody>
      </p:sp>
      <p:sp>
        <p:nvSpPr>
          <p:cNvPr id="68" name="TextBox 67"/>
          <p:cNvSpPr txBox="1"/>
          <p:nvPr/>
        </p:nvSpPr>
        <p:spPr>
          <a:xfrm>
            <a:off x="7498079" y="2697480"/>
            <a:ext cx="3877056" cy="201168"/>
          </a:xfrm>
          <a:prstGeom prst="rect">
            <a:avLst/>
          </a:prstGeom>
          <a:noFill/>
        </p:spPr>
        <p:txBody>
          <a:bodyPr wrap="square" lIns="0" rIns="0" tIns="0" bIns="0" anchor="t">
            <a:spAutoFit/>
          </a:bodyPr>
          <a:lstStyle/>
          <a:p>
            <a:pPr algn="l"/>
            <a:r>
              <a:rPr sz="950" b="1" i="0">
                <a:solidFill>
                  <a:srgbClr val="097480"/>
                </a:solidFill>
                <a:latin typeface="IBM Plex Sans"/>
              </a:rPr>
              <a:t>HOW MISMATCHES ARE REPORTED</a:t>
            </a:r>
          </a:p>
        </p:txBody>
      </p:sp>
      <p:sp>
        <p:nvSpPr>
          <p:cNvPr id="69" name="Rounded Rectangle 68"/>
          <p:cNvSpPr/>
          <p:nvPr/>
        </p:nvSpPr>
        <p:spPr>
          <a:xfrm>
            <a:off x="7498079" y="2971800"/>
            <a:ext cx="3877056" cy="749808"/>
          </a:xfrm>
          <a:prstGeom prst="roundRect">
            <a:avLst>
              <a:gd name="adj" fmla="val 9756"/>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635240" y="3099816"/>
            <a:ext cx="530352" cy="219456"/>
          </a:xfrm>
          <a:prstGeom prst="roundRect">
            <a:avLst>
              <a:gd name="adj" fmla="val 50000"/>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635240" y="3099816"/>
            <a:ext cx="530352" cy="219456"/>
          </a:xfrm>
          <a:prstGeom prst="rect">
            <a:avLst/>
          </a:prstGeom>
          <a:noFill/>
        </p:spPr>
        <p:txBody>
          <a:bodyPr wrap="square" lIns="0" rIns="0" tIns="0" bIns="0" anchor="ctr">
            <a:spAutoFit/>
          </a:bodyPr>
          <a:lstStyle/>
          <a:p>
            <a:pPr algn="ctr"/>
            <a:r>
              <a:rPr sz="900" b="1" i="0">
                <a:solidFill>
                  <a:srgbClr val="FFFFFF"/>
                </a:solidFill>
                <a:latin typeface="IBM Plex Sans"/>
              </a:rPr>
              <a:t>PASS</a:t>
            </a:r>
          </a:p>
        </p:txBody>
      </p:sp>
      <p:sp>
        <p:nvSpPr>
          <p:cNvPr id="72" name="TextBox 71"/>
          <p:cNvSpPr txBox="1"/>
          <p:nvPr/>
        </p:nvSpPr>
        <p:spPr>
          <a:xfrm>
            <a:off x="8275319" y="3081528"/>
            <a:ext cx="2962656" cy="237744"/>
          </a:xfrm>
          <a:prstGeom prst="rect">
            <a:avLst/>
          </a:prstGeom>
          <a:noFill/>
        </p:spPr>
        <p:txBody>
          <a:bodyPr wrap="square" lIns="0" rIns="0" tIns="0" bIns="0" anchor="t">
            <a:spAutoFit/>
          </a:bodyPr>
          <a:lstStyle/>
          <a:p>
            <a:pPr algn="l"/>
            <a:r>
              <a:rPr sz="1200" b="1" i="0">
                <a:solidFill>
                  <a:srgbClr val="0B1F3A"/>
                </a:solidFill>
                <a:latin typeface="IBM Plex Sans"/>
              </a:rPr>
              <a:t>brandIdentifier</a:t>
            </a:r>
          </a:p>
        </p:txBody>
      </p:sp>
      <p:sp>
        <p:nvSpPr>
          <p:cNvPr id="73" name="TextBox 72"/>
          <p:cNvSpPr txBox="1"/>
          <p:nvPr/>
        </p:nvSpPr>
        <p:spPr>
          <a:xfrm>
            <a:off x="7635240" y="3392424"/>
            <a:ext cx="3602736" cy="274320"/>
          </a:xfrm>
          <a:prstGeom prst="rect">
            <a:avLst/>
          </a:prstGeom>
          <a:noFill/>
        </p:spPr>
        <p:txBody>
          <a:bodyPr wrap="square" lIns="0" rIns="0" tIns="0" bIns="0" anchor="t">
            <a:spAutoFit/>
          </a:bodyPr>
          <a:lstStyle/>
          <a:p>
            <a:pPr algn="l"/>
            <a:r>
              <a:rPr sz="1050" b="0" i="0">
                <a:solidFill>
                  <a:srgbClr val="3F5068"/>
                </a:solidFill>
                <a:latin typeface="IBM Plex Sans"/>
              </a:rPr>
              <a:t>Path, name, type and flag all match</a:t>
            </a:r>
          </a:p>
        </p:txBody>
      </p:sp>
      <p:sp>
        <p:nvSpPr>
          <p:cNvPr id="74" name="Rounded Rectangle 73"/>
          <p:cNvSpPr/>
          <p:nvPr/>
        </p:nvSpPr>
        <p:spPr>
          <a:xfrm>
            <a:off x="7498079" y="3813048"/>
            <a:ext cx="3877056" cy="749808"/>
          </a:xfrm>
          <a:prstGeom prst="roundRect">
            <a:avLst>
              <a:gd name="adj" fmla="val 9756"/>
            </a:avLst>
          </a:prstGeom>
          <a:solidFill>
            <a:srgbClr val="FCEFE6"/>
          </a:solidFill>
          <a:ln w="6350">
            <a:solidFill>
              <a:srgbClr val="F0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635240" y="3941063"/>
            <a:ext cx="530352" cy="219456"/>
          </a:xfrm>
          <a:prstGeom prst="roundRect">
            <a:avLst>
              <a:gd name="adj" fmla="val 50000"/>
            </a:avLst>
          </a:prstGeom>
          <a:solidFill>
            <a:srgbClr val="B44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35240" y="3941063"/>
            <a:ext cx="530352" cy="219456"/>
          </a:xfrm>
          <a:prstGeom prst="rect">
            <a:avLst/>
          </a:prstGeom>
          <a:noFill/>
        </p:spPr>
        <p:txBody>
          <a:bodyPr wrap="square" lIns="0" rIns="0" tIns="0" bIns="0" anchor="ctr">
            <a:spAutoFit/>
          </a:bodyPr>
          <a:lstStyle/>
          <a:p>
            <a:pPr algn="ctr"/>
            <a:r>
              <a:rPr sz="900" b="1" i="0">
                <a:solidFill>
                  <a:srgbClr val="FFFFFF"/>
                </a:solidFill>
                <a:latin typeface="IBM Plex Sans"/>
              </a:rPr>
              <a:t>FAIL</a:t>
            </a:r>
          </a:p>
        </p:txBody>
      </p:sp>
      <p:sp>
        <p:nvSpPr>
          <p:cNvPr id="77" name="TextBox 76"/>
          <p:cNvSpPr txBox="1"/>
          <p:nvPr/>
        </p:nvSpPr>
        <p:spPr>
          <a:xfrm>
            <a:off x="8275319" y="3922776"/>
            <a:ext cx="2962656" cy="237744"/>
          </a:xfrm>
          <a:prstGeom prst="rect">
            <a:avLst/>
          </a:prstGeom>
          <a:noFill/>
        </p:spPr>
        <p:txBody>
          <a:bodyPr wrap="square" lIns="0" rIns="0" tIns="0" bIns="0" anchor="t">
            <a:spAutoFit/>
          </a:bodyPr>
          <a:lstStyle/>
          <a:p>
            <a:pPr algn="l"/>
            <a:r>
              <a:rPr sz="1200" b="1" i="0">
                <a:solidFill>
                  <a:srgbClr val="0B1F3A"/>
                </a:solidFill>
                <a:latin typeface="IBM Plex Sans"/>
              </a:rPr>
              <a:t>Data type mismatch</a:t>
            </a:r>
          </a:p>
        </p:txBody>
      </p:sp>
      <p:sp>
        <p:nvSpPr>
          <p:cNvPr id="78" name="TextBox 77"/>
          <p:cNvSpPr txBox="1"/>
          <p:nvPr/>
        </p:nvSpPr>
        <p:spPr>
          <a:xfrm>
            <a:off x="7635240" y="4233672"/>
            <a:ext cx="3602736" cy="274320"/>
          </a:xfrm>
          <a:prstGeom prst="rect">
            <a:avLst/>
          </a:prstGeom>
          <a:noFill/>
        </p:spPr>
        <p:txBody>
          <a:bodyPr wrap="square" lIns="0" rIns="0" tIns="0" bIns="0" anchor="t">
            <a:spAutoFit/>
          </a:bodyPr>
          <a:lstStyle/>
          <a:p>
            <a:pPr algn="l"/>
            <a:r>
              <a:rPr sz="1050" b="0" i="0">
                <a:solidFill>
                  <a:srgbClr val="3F5068"/>
                </a:solidFill>
                <a:latin typeface="IBM Plex Sans"/>
              </a:rPr>
              <a:t>Mapping: integer · RAML: string</a:t>
            </a:r>
          </a:p>
        </p:txBody>
      </p:sp>
      <p:sp>
        <p:nvSpPr>
          <p:cNvPr id="79" name="Rounded Rectangle 78"/>
          <p:cNvSpPr/>
          <p:nvPr/>
        </p:nvSpPr>
        <p:spPr>
          <a:xfrm>
            <a:off x="7498079" y="4654296"/>
            <a:ext cx="3877056" cy="749808"/>
          </a:xfrm>
          <a:prstGeom prst="roundRect">
            <a:avLst>
              <a:gd name="adj" fmla="val 9756"/>
            </a:avLst>
          </a:prstGeom>
          <a:solidFill>
            <a:srgbClr val="FCEFE6"/>
          </a:solidFill>
          <a:ln w="6350">
            <a:solidFill>
              <a:srgbClr val="F0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635240" y="4782312"/>
            <a:ext cx="530352" cy="219456"/>
          </a:xfrm>
          <a:prstGeom prst="roundRect">
            <a:avLst>
              <a:gd name="adj" fmla="val 50000"/>
            </a:avLst>
          </a:prstGeom>
          <a:solidFill>
            <a:srgbClr val="B44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635240" y="4782312"/>
            <a:ext cx="530352" cy="219456"/>
          </a:xfrm>
          <a:prstGeom prst="rect">
            <a:avLst/>
          </a:prstGeom>
          <a:noFill/>
        </p:spPr>
        <p:txBody>
          <a:bodyPr wrap="square" lIns="0" rIns="0" tIns="0" bIns="0" anchor="ctr">
            <a:spAutoFit/>
          </a:bodyPr>
          <a:lstStyle/>
          <a:p>
            <a:pPr algn="ctr"/>
            <a:r>
              <a:rPr sz="900" b="1" i="0">
                <a:solidFill>
                  <a:srgbClr val="FFFFFF"/>
                </a:solidFill>
                <a:latin typeface="IBM Plex Sans"/>
              </a:rPr>
              <a:t>FAIL</a:t>
            </a:r>
          </a:p>
        </p:txBody>
      </p:sp>
      <p:sp>
        <p:nvSpPr>
          <p:cNvPr id="82" name="TextBox 81"/>
          <p:cNvSpPr txBox="1"/>
          <p:nvPr/>
        </p:nvSpPr>
        <p:spPr>
          <a:xfrm>
            <a:off x="8275319" y="4764024"/>
            <a:ext cx="2962656" cy="237744"/>
          </a:xfrm>
          <a:prstGeom prst="rect">
            <a:avLst/>
          </a:prstGeom>
          <a:noFill/>
        </p:spPr>
        <p:txBody>
          <a:bodyPr wrap="square" lIns="0" rIns="0" tIns="0" bIns="0" anchor="t">
            <a:spAutoFit/>
          </a:bodyPr>
          <a:lstStyle/>
          <a:p>
            <a:pPr algn="l"/>
            <a:r>
              <a:rPr sz="1200" b="1" i="0">
                <a:solidFill>
                  <a:srgbClr val="0B1F3A"/>
                </a:solidFill>
                <a:latin typeface="IBM Plex Sans"/>
              </a:rPr>
              <a:t>Missing in RAML</a:t>
            </a:r>
          </a:p>
        </p:txBody>
      </p:sp>
      <p:sp>
        <p:nvSpPr>
          <p:cNvPr id="83" name="TextBox 82"/>
          <p:cNvSpPr txBox="1"/>
          <p:nvPr/>
        </p:nvSpPr>
        <p:spPr>
          <a:xfrm>
            <a:off x="7635240" y="5074920"/>
            <a:ext cx="3602736" cy="274320"/>
          </a:xfrm>
          <a:prstGeom prst="rect">
            <a:avLst/>
          </a:prstGeom>
          <a:noFill/>
        </p:spPr>
        <p:txBody>
          <a:bodyPr wrap="square" lIns="0" rIns="0" tIns="0" bIns="0" anchor="t">
            <a:spAutoFit/>
          </a:bodyPr>
          <a:lstStyle/>
          <a:p>
            <a:pPr algn="l"/>
            <a:r>
              <a:rPr sz="1050" b="0" i="0">
                <a:solidFill>
                  <a:srgbClr val="3F5068"/>
                </a:solidFill>
                <a:latin typeface="IBM Plex Sans"/>
              </a:rPr>
              <a:t>Field in mapping, absent in RAML: flagged</a:t>
            </a:r>
          </a:p>
        </p:txBody>
      </p:sp>
      <p:sp>
        <p:nvSpPr>
          <p:cNvPr id="84" name="TextBox 83"/>
          <p:cNvSpPr txBox="1"/>
          <p:nvPr/>
        </p:nvSpPr>
        <p:spPr>
          <a:xfrm>
            <a:off x="7498079" y="5513831"/>
            <a:ext cx="3877056" cy="457200"/>
          </a:xfrm>
          <a:prstGeom prst="rect">
            <a:avLst/>
          </a:prstGeom>
          <a:noFill/>
        </p:spPr>
        <p:txBody>
          <a:bodyPr wrap="square" lIns="0" rIns="0" tIns="0" bIns="0" anchor="t">
            <a:spAutoFit/>
          </a:bodyPr>
          <a:lstStyle/>
          <a:p>
            <a:pPr algn="l"/>
            <a:r>
              <a:rPr sz="1000" b="0" i="1">
                <a:solidFill>
                  <a:srgbClr val="5B6C84"/>
                </a:solidFill>
                <a:latin typeface="IBM Plex Sans"/>
              </a:rPr>
              <a:t>Every field gets a status, expected vs actual value and an issue comment. Illustrative examples.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9"/>
        </a:solidFill>
      </p:bgPr>
    </p:bg>
    <p:spTree>
      <p:nvGrpSpPr>
        <p:cNvPr id="1" name=""/>
        <p:cNvGrpSpPr/>
        <p:nvPr/>
      </p:nvGrpSpPr>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97480"/>
                </a:solidFill>
                <a:latin typeface="IBM Plex Sans" pitchFamily="34" charset="0"/>
                <a:ea typeface="IBM Plex Sans" pitchFamily="34" charset="-122"/>
                <a:cs typeface="IBM Plex Sans" pitchFamily="34" charset="-120"/>
              </a:rPr>
              <a:t>06 · HUMAN-IN-THE-LOOP &amp; BENEFITS</a:t>
            </a:r>
            <a:endParaRPr lang="en-US" sz="1200" dirty="0"/>
          </a:p>
        </p:txBody>
      </p:sp>
      <p:sp>
        <p:nvSpPr>
          <p:cNvPr id="3" name="Text 1"/>
          <p:cNvSpPr/>
          <p:nvPr>
            <p:ph type="title"/>
          </p:nvPr>
        </p:nvSpPr>
        <p:spPr>
          <a:xfrm>
            <a:off x="812800" y="108965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B1F3A"/>
                </a:solidFill>
                <a:latin typeface="IBM Plex Sans" pitchFamily="34" charset="0"/>
                <a:ea typeface="IBM Plex Sans" pitchFamily="34" charset="-122"/>
                <a:cs typeface="IBM Plex Sans" pitchFamily="34" charset="-120"/>
              </a:rPr>
              <a:t>Automated comparison, human sign-off</a:t>
            </a:r>
            <a:endParaRPr lang="en-US" sz="3000" dirty="0"/>
          </a:p>
        </p:txBody>
      </p:sp>
      <p:sp>
        <p:nvSpPr>
          <p:cNvPr id="54" name="Text 43"/>
          <p:cNvSpPr/>
          <p:nvPr/>
        </p:nvSpPr>
        <p:spPr>
          <a:xfrm>
            <a:off x="812800" y="6238247"/>
            <a:ext cx="588645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AI-Powered MQS Code Static Validation</a:t>
            </a:r>
            <a:endParaRPr lang="en-US" sz="1200" dirty="0"/>
          </a:p>
        </p:txBody>
      </p:sp>
      <p:sp>
        <p:nvSpPr>
          <p:cNvPr id="55" name="Text 44"/>
          <p:cNvSpPr/>
          <p:nvPr/>
        </p:nvSpPr>
        <p:spPr>
          <a:xfrm>
            <a:off x="9804400" y="6238247"/>
            <a:ext cx="1574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C84"/>
                </a:solidFill>
                <a:latin typeface="IBM Plex Sans" pitchFamily="34" charset="0"/>
                <a:ea typeface="IBM Plex Sans" pitchFamily="34" charset="-122"/>
                <a:cs typeface="IBM Plex Sans" pitchFamily="34" charset="-120"/>
              </a:rPr>
              <a:t>7 / 7</a:t>
            </a:r>
            <a:endParaRPr lang="en-US" sz="1200" dirty="0"/>
          </a:p>
        </p:txBody>
      </p:sp>
      <p:sp>
        <p:nvSpPr>
          <p:cNvPr id="56" name="Rounded Rectangle 55"/>
          <p:cNvSpPr/>
          <p:nvPr/>
        </p:nvSpPr>
        <p:spPr>
          <a:xfrm>
            <a:off x="813816" y="1691640"/>
            <a:ext cx="3291840" cy="868680"/>
          </a:xfrm>
          <a:prstGeom prst="roundRect">
            <a:avLst>
              <a:gd name="adj" fmla="val 10526"/>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6696" y="1801368"/>
            <a:ext cx="2926080" cy="237744"/>
          </a:xfrm>
          <a:prstGeom prst="rect">
            <a:avLst/>
          </a:prstGeom>
          <a:noFill/>
        </p:spPr>
        <p:txBody>
          <a:bodyPr wrap="square" lIns="0" rIns="0" tIns="0" bIns="0" anchor="t">
            <a:spAutoFit/>
          </a:bodyPr>
          <a:lstStyle/>
          <a:p>
            <a:pPr algn="l"/>
            <a:r>
              <a:rPr sz="1300" b="1" i="0">
                <a:solidFill>
                  <a:srgbClr val="FFFFFF"/>
                </a:solidFill>
                <a:latin typeface="IBM Plex Sans"/>
              </a:rPr>
              <a:t>AI agent</a:t>
            </a:r>
          </a:p>
        </p:txBody>
      </p:sp>
      <p:sp>
        <p:nvSpPr>
          <p:cNvPr id="58" name="TextBox 57"/>
          <p:cNvSpPr txBox="1"/>
          <p:nvPr/>
        </p:nvSpPr>
        <p:spPr>
          <a:xfrm>
            <a:off x="996696" y="2103120"/>
            <a:ext cx="2926080" cy="411480"/>
          </a:xfrm>
          <a:prstGeom prst="rect">
            <a:avLst/>
          </a:prstGeom>
          <a:noFill/>
        </p:spPr>
        <p:txBody>
          <a:bodyPr wrap="square" lIns="0" rIns="0" tIns="0" bIns="0" anchor="t">
            <a:spAutoFit/>
          </a:bodyPr>
          <a:lstStyle/>
          <a:p>
            <a:pPr algn="l"/>
            <a:r>
              <a:rPr sz="1100" b="0" i="0">
                <a:solidFill>
                  <a:srgbClr val="3CCBD3"/>
                </a:solidFill>
                <a:latin typeface="IBM Plex Sans"/>
              </a:rPr>
              <a:t>Automates the field-by-field comparison and generates the report</a:t>
            </a:r>
          </a:p>
        </p:txBody>
      </p:sp>
      <p:sp>
        <p:nvSpPr>
          <p:cNvPr id="59" name="Right Arrow 58"/>
          <p:cNvSpPr/>
          <p:nvPr/>
        </p:nvSpPr>
        <p:spPr>
          <a:xfrm>
            <a:off x="4139946" y="2034540"/>
            <a:ext cx="274320"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448556" y="1691640"/>
            <a:ext cx="3291840" cy="868680"/>
          </a:xfrm>
          <a:prstGeom prst="roundRect">
            <a:avLst>
              <a:gd name="adj" fmla="val 10526"/>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31436" y="1801368"/>
            <a:ext cx="2926080" cy="237744"/>
          </a:xfrm>
          <a:prstGeom prst="rect">
            <a:avLst/>
          </a:prstGeom>
          <a:noFill/>
        </p:spPr>
        <p:txBody>
          <a:bodyPr wrap="square" lIns="0" rIns="0" tIns="0" bIns="0" anchor="t">
            <a:spAutoFit/>
          </a:bodyPr>
          <a:lstStyle/>
          <a:p>
            <a:pPr algn="l"/>
            <a:r>
              <a:rPr sz="1300" b="1" i="0">
                <a:solidFill>
                  <a:srgbClr val="0B1F3A"/>
                </a:solidFill>
                <a:latin typeface="IBM Plex Sans"/>
              </a:rPr>
              <a:t>Human reviewer</a:t>
            </a:r>
          </a:p>
        </p:txBody>
      </p:sp>
      <p:sp>
        <p:nvSpPr>
          <p:cNvPr id="62" name="TextBox 61"/>
          <p:cNvSpPr txBox="1"/>
          <p:nvPr/>
        </p:nvSpPr>
        <p:spPr>
          <a:xfrm>
            <a:off x="4631436" y="2103120"/>
            <a:ext cx="2926080" cy="411480"/>
          </a:xfrm>
          <a:prstGeom prst="rect">
            <a:avLst/>
          </a:prstGeom>
          <a:noFill/>
        </p:spPr>
        <p:txBody>
          <a:bodyPr wrap="square" lIns="0" rIns="0" tIns="0" bIns="0" anchor="t">
            <a:spAutoFit/>
          </a:bodyPr>
          <a:lstStyle/>
          <a:p>
            <a:pPr algn="l"/>
            <a:r>
              <a:rPr sz="1100" b="0" i="0">
                <a:solidFill>
                  <a:srgbClr val="3F5068"/>
                </a:solidFill>
                <a:latin typeface="IBM Plex Sans"/>
              </a:rPr>
              <a:t>Verifies important mismatches and resolves ambiguities</a:t>
            </a:r>
          </a:p>
        </p:txBody>
      </p:sp>
      <p:sp>
        <p:nvSpPr>
          <p:cNvPr id="63" name="Right Arrow 62"/>
          <p:cNvSpPr/>
          <p:nvPr/>
        </p:nvSpPr>
        <p:spPr>
          <a:xfrm>
            <a:off x="7774686" y="2034540"/>
            <a:ext cx="274320" cy="182880"/>
          </a:xfrm>
          <a:prstGeom prst="rightArrow">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083296" y="1691640"/>
            <a:ext cx="3291840" cy="868680"/>
          </a:xfrm>
          <a:prstGeom prst="roundRect">
            <a:avLst>
              <a:gd name="adj" fmla="val 10526"/>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66175" y="1801368"/>
            <a:ext cx="2926080" cy="237744"/>
          </a:xfrm>
          <a:prstGeom prst="rect">
            <a:avLst/>
          </a:prstGeom>
          <a:noFill/>
        </p:spPr>
        <p:txBody>
          <a:bodyPr wrap="square" lIns="0" rIns="0" tIns="0" bIns="0" anchor="t">
            <a:spAutoFit/>
          </a:bodyPr>
          <a:lstStyle/>
          <a:p>
            <a:pPr algn="l"/>
            <a:r>
              <a:rPr sz="1300" b="1" i="0">
                <a:solidFill>
                  <a:srgbClr val="FFFFFF"/>
                </a:solidFill>
                <a:latin typeface="IBM Plex Sans"/>
              </a:rPr>
              <a:t>Final sign-off</a:t>
            </a:r>
          </a:p>
        </p:txBody>
      </p:sp>
      <p:sp>
        <p:nvSpPr>
          <p:cNvPr id="66" name="TextBox 65"/>
          <p:cNvSpPr txBox="1"/>
          <p:nvPr/>
        </p:nvSpPr>
        <p:spPr>
          <a:xfrm>
            <a:off x="8266175" y="2103120"/>
            <a:ext cx="2926080" cy="411480"/>
          </a:xfrm>
          <a:prstGeom prst="rect">
            <a:avLst/>
          </a:prstGeom>
          <a:noFill/>
        </p:spPr>
        <p:txBody>
          <a:bodyPr wrap="square" lIns="0" rIns="0" tIns="0" bIns="0" anchor="t">
            <a:spAutoFit/>
          </a:bodyPr>
          <a:lstStyle/>
          <a:p>
            <a:pPr algn="l"/>
            <a:r>
              <a:rPr sz="1100" b="0" i="0">
                <a:solidFill>
                  <a:srgbClr val="DCEBF0"/>
                </a:solidFill>
                <a:latin typeface="IBM Plex Sans"/>
              </a:rPr>
              <a:t>Reviewer confirms the report before it is shared</a:t>
            </a:r>
          </a:p>
        </p:txBody>
      </p:sp>
      <p:sp>
        <p:nvSpPr>
          <p:cNvPr id="67" name="Rounded Rectangle 66"/>
          <p:cNvSpPr/>
          <p:nvPr/>
        </p:nvSpPr>
        <p:spPr>
          <a:xfrm>
            <a:off x="813816" y="2697480"/>
            <a:ext cx="3291840" cy="1005840"/>
          </a:xfrm>
          <a:prstGeom prst="roundRect">
            <a:avLst>
              <a:gd name="adj" fmla="val 909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14984" y="2788920"/>
            <a:ext cx="2889504" cy="502920"/>
          </a:xfrm>
          <a:prstGeom prst="rect">
            <a:avLst/>
          </a:prstGeom>
          <a:noFill/>
        </p:spPr>
        <p:txBody>
          <a:bodyPr wrap="square" lIns="0" rIns="0" tIns="0" bIns="0" anchor="ctr">
            <a:spAutoFit/>
          </a:bodyPr>
          <a:lstStyle/>
          <a:p>
            <a:pPr algn="l"/>
            <a:r>
              <a:rPr sz="2800" b="1" i="0">
                <a:solidFill>
                  <a:srgbClr val="FFFFFF"/>
                </a:solidFill>
                <a:latin typeface="IBM Plex Sans"/>
              </a:rPr>
              <a:t>10–20 min</a:t>
            </a:r>
          </a:p>
        </p:txBody>
      </p:sp>
      <p:sp>
        <p:nvSpPr>
          <p:cNvPr id="69" name="TextBox 68"/>
          <p:cNvSpPr txBox="1"/>
          <p:nvPr/>
        </p:nvSpPr>
        <p:spPr>
          <a:xfrm>
            <a:off x="1014984" y="3355848"/>
            <a:ext cx="2889504" cy="274320"/>
          </a:xfrm>
          <a:prstGeom prst="rect">
            <a:avLst/>
          </a:prstGeom>
          <a:noFill/>
        </p:spPr>
        <p:txBody>
          <a:bodyPr wrap="square" lIns="0" rIns="0" tIns="0" bIns="0" anchor="t">
            <a:spAutoFit/>
          </a:bodyPr>
          <a:lstStyle/>
          <a:p>
            <a:pPr algn="l"/>
            <a:r>
              <a:rPr sz="1150" b="0" i="0">
                <a:solidFill>
                  <a:srgbClr val="3CCBD3"/>
                </a:solidFill>
                <a:latin typeface="IBM Plex Sans"/>
              </a:rPr>
              <a:t>Automated processing per file</a:t>
            </a:r>
          </a:p>
        </p:txBody>
      </p:sp>
      <p:sp>
        <p:nvSpPr>
          <p:cNvPr id="70" name="Rounded Rectangle 69"/>
          <p:cNvSpPr/>
          <p:nvPr/>
        </p:nvSpPr>
        <p:spPr>
          <a:xfrm>
            <a:off x="4448556" y="2697480"/>
            <a:ext cx="3291840" cy="1005840"/>
          </a:xfrm>
          <a:prstGeom prst="roundRect">
            <a:avLst>
              <a:gd name="adj" fmla="val 9090"/>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649724" y="2788920"/>
            <a:ext cx="2889504" cy="502920"/>
          </a:xfrm>
          <a:prstGeom prst="rect">
            <a:avLst/>
          </a:prstGeom>
          <a:noFill/>
        </p:spPr>
        <p:txBody>
          <a:bodyPr wrap="square" lIns="0" rIns="0" tIns="0" bIns="0" anchor="ctr">
            <a:spAutoFit/>
          </a:bodyPr>
          <a:lstStyle/>
          <a:p>
            <a:pPr algn="l"/>
            <a:r>
              <a:rPr sz="2800" b="1" i="0">
                <a:solidFill>
                  <a:srgbClr val="FFFFFF"/>
                </a:solidFill>
                <a:latin typeface="IBM Plex Sans"/>
              </a:rPr>
              <a:t>90%+</a:t>
            </a:r>
          </a:p>
        </p:txBody>
      </p:sp>
      <p:sp>
        <p:nvSpPr>
          <p:cNvPr id="72" name="TextBox 71"/>
          <p:cNvSpPr txBox="1"/>
          <p:nvPr/>
        </p:nvSpPr>
        <p:spPr>
          <a:xfrm>
            <a:off x="4649724" y="3355848"/>
            <a:ext cx="2889504" cy="274320"/>
          </a:xfrm>
          <a:prstGeom prst="rect">
            <a:avLst/>
          </a:prstGeom>
          <a:noFill/>
        </p:spPr>
        <p:txBody>
          <a:bodyPr wrap="square" lIns="0" rIns="0" tIns="0" bIns="0" anchor="t">
            <a:spAutoFit/>
          </a:bodyPr>
          <a:lstStyle/>
          <a:p>
            <a:pPr algn="l"/>
            <a:r>
              <a:rPr sz="1150" b="0" i="0">
                <a:solidFill>
                  <a:srgbClr val="DCEBF0"/>
                </a:solidFill>
                <a:latin typeface="IBM Plex Sans"/>
              </a:rPr>
              <a:t>Validation accuracy, current results</a:t>
            </a:r>
          </a:p>
        </p:txBody>
      </p:sp>
      <p:sp>
        <p:nvSpPr>
          <p:cNvPr id="73" name="Rounded Rectangle 72"/>
          <p:cNvSpPr/>
          <p:nvPr/>
        </p:nvSpPr>
        <p:spPr>
          <a:xfrm>
            <a:off x="8083296" y="2697480"/>
            <a:ext cx="3291840" cy="1005840"/>
          </a:xfrm>
          <a:prstGeom prst="roundRect">
            <a:avLst>
              <a:gd name="adj" fmla="val 9090"/>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284464" y="2788920"/>
            <a:ext cx="2889504" cy="502920"/>
          </a:xfrm>
          <a:prstGeom prst="rect">
            <a:avLst/>
          </a:prstGeom>
          <a:noFill/>
        </p:spPr>
        <p:txBody>
          <a:bodyPr wrap="square" lIns="0" rIns="0" tIns="0" bIns="0" anchor="ctr">
            <a:spAutoFit/>
          </a:bodyPr>
          <a:lstStyle/>
          <a:p>
            <a:pPr algn="l"/>
            <a:r>
              <a:rPr sz="2800" b="1" i="0">
                <a:solidFill>
                  <a:srgbClr val="097480"/>
                </a:solidFill>
                <a:latin typeface="IBM Plex Sans"/>
              </a:rPr>
              <a:t>24–32 hrs</a:t>
            </a:r>
          </a:p>
        </p:txBody>
      </p:sp>
      <p:sp>
        <p:nvSpPr>
          <p:cNvPr id="75" name="TextBox 74"/>
          <p:cNvSpPr txBox="1"/>
          <p:nvPr/>
        </p:nvSpPr>
        <p:spPr>
          <a:xfrm>
            <a:off x="8284464" y="3355848"/>
            <a:ext cx="2889504" cy="274320"/>
          </a:xfrm>
          <a:prstGeom prst="rect">
            <a:avLst/>
          </a:prstGeom>
          <a:noFill/>
        </p:spPr>
        <p:txBody>
          <a:bodyPr wrap="square" lIns="0" rIns="0" tIns="0" bIns="0" anchor="t">
            <a:spAutoFit/>
          </a:bodyPr>
          <a:lstStyle/>
          <a:p>
            <a:pPr algn="l"/>
            <a:r>
              <a:rPr sz="1150" b="0" i="0">
                <a:solidFill>
                  <a:srgbClr val="3F5068"/>
                </a:solidFill>
                <a:latin typeface="IBM Plex Sans"/>
              </a:rPr>
              <a:t>Saved per process: 3–4 days → 1 day</a:t>
            </a:r>
          </a:p>
        </p:txBody>
      </p:sp>
      <p:sp>
        <p:nvSpPr>
          <p:cNvPr id="76" name="Rounded Rectangle 75"/>
          <p:cNvSpPr/>
          <p:nvPr/>
        </p:nvSpPr>
        <p:spPr>
          <a:xfrm>
            <a:off x="813816" y="3840480"/>
            <a:ext cx="5166360" cy="1554480"/>
          </a:xfrm>
          <a:prstGeom prst="roundRect">
            <a:avLst>
              <a:gd name="adj" fmla="val 5882"/>
            </a:avLst>
          </a:prstGeom>
          <a:solidFill>
            <a:srgbClr val="FCFDFE"/>
          </a:solidFill>
          <a:ln w="635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14984" y="3977640"/>
            <a:ext cx="4764024" cy="274320"/>
          </a:xfrm>
          <a:prstGeom prst="rect">
            <a:avLst/>
          </a:prstGeom>
          <a:noFill/>
        </p:spPr>
        <p:txBody>
          <a:bodyPr wrap="square" lIns="0" rIns="0" tIns="0" bIns="0" anchor="t">
            <a:spAutoFit/>
          </a:bodyPr>
          <a:lstStyle/>
          <a:p>
            <a:pPr algn="l"/>
            <a:r>
              <a:rPr sz="1300" b="1" i="0">
                <a:solidFill>
                  <a:srgbClr val="0B1F3A"/>
                </a:solidFill>
                <a:latin typeface="IBM Plex Sans"/>
              </a:rPr>
              <a:t>Manual validation: 3–4 days (≈24–32 hours)</a:t>
            </a:r>
          </a:p>
        </p:txBody>
      </p:sp>
      <p:sp>
        <p:nvSpPr>
          <p:cNvPr id="78" name="Oval 77"/>
          <p:cNvSpPr/>
          <p:nvPr/>
        </p:nvSpPr>
        <p:spPr>
          <a:xfrm>
            <a:off x="1014984" y="4471416"/>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216152" y="4407408"/>
            <a:ext cx="4562856" cy="192024"/>
          </a:xfrm>
          <a:prstGeom prst="rect">
            <a:avLst/>
          </a:prstGeom>
          <a:noFill/>
        </p:spPr>
        <p:txBody>
          <a:bodyPr wrap="square" lIns="0" rIns="0" tIns="0" bIns="0" anchor="t">
            <a:spAutoFit/>
          </a:bodyPr>
          <a:lstStyle/>
          <a:p>
            <a:pPr algn="l"/>
            <a:r>
              <a:rPr sz="1150" b="0" i="0">
                <a:solidFill>
                  <a:srgbClr val="3F5068"/>
                </a:solidFill>
                <a:latin typeface="IBM Plex Sans"/>
              </a:rPr>
              <a:t>Core validation: 2–3 days (16–24 hours)</a:t>
            </a:r>
          </a:p>
        </p:txBody>
      </p:sp>
      <p:sp>
        <p:nvSpPr>
          <p:cNvPr id="80" name="Oval 79"/>
          <p:cNvSpPr/>
          <p:nvPr/>
        </p:nvSpPr>
        <p:spPr>
          <a:xfrm>
            <a:off x="1014984" y="4736592"/>
            <a:ext cx="77724" cy="77724"/>
          </a:xfrm>
          <a:prstGeom prst="ellipse">
            <a:avLst/>
          </a:prstGeom>
          <a:solidFill>
            <a:srgbClr val="09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216152" y="4672584"/>
            <a:ext cx="4562856" cy="384048"/>
          </a:xfrm>
          <a:prstGeom prst="rect">
            <a:avLst/>
          </a:prstGeom>
          <a:noFill/>
        </p:spPr>
        <p:txBody>
          <a:bodyPr wrap="square" lIns="0" rIns="0" tIns="0" bIns="0" anchor="t">
            <a:spAutoFit/>
          </a:bodyPr>
          <a:lstStyle/>
          <a:p>
            <a:pPr algn="l"/>
            <a:r>
              <a:rPr sz="1150" b="0" i="0">
                <a:solidFill>
                  <a:srgbClr val="3F5068"/>
                </a:solidFill>
                <a:latin typeface="IBM Plex Sans"/>
              </a:rPr>
              <a:t>Plus 1–2 days (8–16 hours) if stakeholder clarification is needed</a:t>
            </a:r>
          </a:p>
        </p:txBody>
      </p:sp>
      <p:sp>
        <p:nvSpPr>
          <p:cNvPr id="82" name="Rounded Rectangle 81"/>
          <p:cNvSpPr/>
          <p:nvPr/>
        </p:nvSpPr>
        <p:spPr>
          <a:xfrm>
            <a:off x="6208776" y="3840480"/>
            <a:ext cx="5166360" cy="1554480"/>
          </a:xfrm>
          <a:prstGeom prst="roundRect">
            <a:avLst>
              <a:gd name="adj" fmla="val 5882"/>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9944" y="3977640"/>
            <a:ext cx="4764024" cy="274320"/>
          </a:xfrm>
          <a:prstGeom prst="rect">
            <a:avLst/>
          </a:prstGeom>
          <a:noFill/>
        </p:spPr>
        <p:txBody>
          <a:bodyPr wrap="square" lIns="0" rIns="0" tIns="0" bIns="0" anchor="t">
            <a:spAutoFit/>
          </a:bodyPr>
          <a:lstStyle/>
          <a:p>
            <a:pPr algn="l"/>
            <a:r>
              <a:rPr sz="1300" b="1" i="0">
                <a:solidFill>
                  <a:srgbClr val="FFFFFF"/>
                </a:solidFill>
                <a:latin typeface="IBM Plex Sans"/>
              </a:rPr>
              <a:t>AI validation: about 1 day</a:t>
            </a:r>
          </a:p>
        </p:txBody>
      </p:sp>
      <p:sp>
        <p:nvSpPr>
          <p:cNvPr id="84" name="Oval 83"/>
          <p:cNvSpPr/>
          <p:nvPr/>
        </p:nvSpPr>
        <p:spPr>
          <a:xfrm>
            <a:off x="6409944" y="4471416"/>
            <a:ext cx="77724" cy="77724"/>
          </a:xfrm>
          <a:prstGeom prst="ellipse">
            <a:avLst/>
          </a:prstGeom>
          <a:solidFill>
            <a:srgbClr val="3C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11112" y="4407408"/>
            <a:ext cx="4562856" cy="192024"/>
          </a:xfrm>
          <a:prstGeom prst="rect">
            <a:avLst/>
          </a:prstGeom>
          <a:noFill/>
        </p:spPr>
        <p:txBody>
          <a:bodyPr wrap="square" lIns="0" rIns="0" tIns="0" bIns="0" anchor="t">
            <a:spAutoFit/>
          </a:bodyPr>
          <a:lstStyle/>
          <a:p>
            <a:pPr algn="l"/>
            <a:r>
              <a:rPr sz="1150" b="0" i="0">
                <a:solidFill>
                  <a:srgbClr val="DCEBF0"/>
                </a:solidFill>
                <a:latin typeface="IBM Plex Sans"/>
              </a:rPr>
              <a:t>Agent run: around 10–20 minutes</a:t>
            </a:r>
          </a:p>
        </p:txBody>
      </p:sp>
      <p:sp>
        <p:nvSpPr>
          <p:cNvPr id="86" name="Oval 85"/>
          <p:cNvSpPr/>
          <p:nvPr/>
        </p:nvSpPr>
        <p:spPr>
          <a:xfrm>
            <a:off x="6409944" y="4736592"/>
            <a:ext cx="77724" cy="77724"/>
          </a:xfrm>
          <a:prstGeom prst="ellipse">
            <a:avLst/>
          </a:prstGeom>
          <a:solidFill>
            <a:srgbClr val="3C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611112" y="4672584"/>
            <a:ext cx="4562856" cy="192024"/>
          </a:xfrm>
          <a:prstGeom prst="rect">
            <a:avLst/>
          </a:prstGeom>
          <a:noFill/>
        </p:spPr>
        <p:txBody>
          <a:bodyPr wrap="square" lIns="0" rIns="0" tIns="0" bIns="0" anchor="t">
            <a:spAutoFit/>
          </a:bodyPr>
          <a:lstStyle/>
          <a:p>
            <a:pPr algn="l"/>
            <a:r>
              <a:rPr sz="1150" b="0" i="0">
                <a:solidFill>
                  <a:srgbClr val="DCEBF0"/>
                </a:solidFill>
                <a:latin typeface="IBM Plex Sans"/>
              </a:rPr>
              <a:t>Excludes stakeholder response time</a:t>
            </a:r>
          </a:p>
        </p:txBody>
      </p:sp>
      <p:sp>
        <p:nvSpPr>
          <p:cNvPr id="88" name="TextBox 87"/>
          <p:cNvSpPr txBox="1"/>
          <p:nvPr/>
        </p:nvSpPr>
        <p:spPr>
          <a:xfrm>
            <a:off x="813816" y="5486400"/>
            <a:ext cx="10561320" cy="237744"/>
          </a:xfrm>
          <a:prstGeom prst="rect">
            <a:avLst/>
          </a:prstGeom>
          <a:noFill/>
        </p:spPr>
        <p:txBody>
          <a:bodyPr wrap="square" lIns="0" rIns="0" tIns="0" bIns="0" anchor="t">
            <a:spAutoFit/>
          </a:bodyPr>
          <a:lstStyle/>
          <a:p>
            <a:pPr algn="ctr"/>
            <a:r>
              <a:rPr sz="1100" b="0" i="0">
                <a:solidFill>
                  <a:srgbClr val="5B6C84"/>
                </a:solidFill>
                <a:latin typeface="IBM Plex Sans"/>
              </a:rPr>
              <a:t>Less repetitive checking  ·  Consistent rule-driven checks  ·  Human review retained  ·  Reusable prompts  ·  Repeatable workflow</a:t>
            </a:r>
          </a:p>
        </p:txBody>
      </p:sp>
      <p:sp>
        <p:nvSpPr>
          <p:cNvPr id="89" name="Rounded Rectangle 88"/>
          <p:cNvSpPr/>
          <p:nvPr/>
        </p:nvSpPr>
        <p:spPr>
          <a:xfrm>
            <a:off x="813816" y="5788152"/>
            <a:ext cx="10561320" cy="329184"/>
          </a:xfrm>
          <a:prstGeom prst="roundRect">
            <a:avLst>
              <a:gd name="adj" fmla="val 22222"/>
            </a:avLst>
          </a:prstGeom>
          <a:solidFill>
            <a:srgbClr val="FCEFE6"/>
          </a:solidFill>
          <a:ln w="6350">
            <a:solidFill>
              <a:srgbClr val="F0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60120" y="5788152"/>
            <a:ext cx="10287000" cy="329184"/>
          </a:xfrm>
          <a:prstGeom prst="rect">
            <a:avLst/>
          </a:prstGeom>
          <a:noFill/>
        </p:spPr>
        <p:txBody>
          <a:bodyPr wrap="square" lIns="0" rIns="0" tIns="0" bIns="0" anchor="ctr">
            <a:spAutoFit/>
          </a:bodyPr>
          <a:lstStyle/>
          <a:p>
            <a:pPr algn="l"/>
            <a:r>
              <a:rPr sz="1050" b="1" i="0">
                <a:solidFill>
                  <a:srgbClr val="B4460A"/>
                </a:solidFill>
                <a:latin typeface="IBM Plex Sans"/>
              </a:rPr>
              <a:t>Note: </a:t>
            </a:r>
            <a:r>
              <a:rPr sz="1050" b="0" i="0">
                <a:solidFill>
                  <a:srgbClr val="0B1F3A"/>
                </a:solidFill>
                <a:latin typeface="IBM Plex Sans"/>
              </a:rPr>
              <a:t>90%+ reflects current results, not a guarantee; human review closes the gap. Hours assume 8-hour working days.</a:t>
            </a:r>
          </a:p>
        </p:txBody>
      </p:sp>
    </p:spTree>
  </p:cSld>
  <p:clrMapOvr>
    <a:masterClrMapping/>
  </p:clrMapOvr>
</p:sld>
</file>

<file path=ppt/theme/theme1.xml><?xml version="1.0" encoding="utf-8"?>
<a:theme xmlns:a="http://schemas.openxmlformats.org/drawingml/2006/main" name="AI-Powered MQS Code Request Validation">
  <a:themeElements>
    <a:clrScheme name="AI-Powered MQS Code Request Validation">
      <a:dk1>
        <a:srgbClr val="0B1F3A"/>
      </a:dk1>
      <a:lt1>
        <a:srgbClr val="F3F6F9"/>
      </a:lt1>
      <a:dk2>
        <a:srgbClr val="45556A"/>
      </a:dk2>
      <a:lt2>
        <a:srgbClr val="DCE1E6"/>
      </a:lt2>
      <a:accent1>
        <a:srgbClr val="097480"/>
      </a:accent1>
      <a:accent2>
        <a:srgbClr val="5B6C84"/>
      </a:accent2>
      <a:accent3>
        <a:srgbClr val="3F5068"/>
      </a:accent3>
      <a:accent4>
        <a:srgbClr val="3CCBD3"/>
      </a:accent4>
      <a:accent5>
        <a:srgbClr val="B4460A"/>
      </a:accent5>
      <a:accent6>
        <a:srgbClr val="A9BCD3"/>
      </a:accent6>
      <a:hlink>
        <a:srgbClr val="0563C1"/>
      </a:hlink>
      <a:folHlink>
        <a:srgbClr val="954F72"/>
      </a:folHlink>
    </a:clrScheme>
    <a:fontScheme name="AI-Powered MQS Code Request Valid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MQS Code Request Validation</dc:title>
  <dc:subject/>
  <dc:creator/>
  <cp:lastModifiedBy/>
  <cp:revision>1</cp:revision>
  <dcterms:created xsi:type="dcterms:W3CDTF">2026-10-20T05:50:30Z</dcterms:created>
  <dcterms:modified xsi:type="dcterms:W3CDTF">2026-10-20T05:50:30Z</dcterms:modified>
</cp:coreProperties>
</file>